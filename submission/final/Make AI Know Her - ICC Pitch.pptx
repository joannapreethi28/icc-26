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slide5.xml" ContentType="application/vnd.openxmlformats-officedocument.presentationml.slide+xml"/>
  <Default Extension="xlsx" ContentType="application/vnd.openxmlformats-officedocument.spreadsheetml.sheet"/>
</Types>
</file>

<file path=_rels/.rels><?xml version='1.0' encoding='utf-8'?>
<ns0:Relationships xmlns:ns0="http://schemas.openxmlformats.org/package/2006/relationships"><ns0:Relationship Type="http://schemas.openxmlformats.org/package/2006/relationships/metadata/core-properties" Target="/docProps/core.xml" Id="R7218b9492d274a9c" /><ns0:Relationship Type="http://schemas.openxmlformats.org/officeDocument/2006/relationships/extended-properties" Target="/docProps/app.xml" Id="Rb65c0e2a438c4df5" /><ns0:Relationship Type="http://schemas.openxmlformats.org/officeDocument/2006/relationships/officeDocument" Target="/ppt/presentation.xml" Id="R5dcf2e13c7fd464f" /></ns0:Relationships>
</file>

<file path=ppt/presentation.xml><?xml version="1.0" encoding="utf-8"?>
<p:presentation xmlns:p="http://schemas.openxmlformats.org/presentationml/2006/main" xmlns:r="http://schemas.openxmlformats.org/officeDocument/2006/relationships" embedTrueTypeFonts="1" saveSubsetFonts="0">
  <p:sldMasterIdLst>
    <p:sldMasterId id="2147483648" r:id="Rd7b1fe00aab745e8"/>
  </p:sldMasterIdLst>
  <p:sldIdLst>
    <p:sldId id="256" r:id="R107009e7711f4c40"/>
    <p:sldId id="257" r:id="Rf7d363c3863b4d29"/>
    <p:sldId id="258" r:id="R43054bfd43d94e45"/>
    <p:sldId id="259" r:id="R94265ab175464cb8"/>
    <p:sldId id="260" r:id="R9a3e9aa5ea274265"/>
  </p:sldIdLst>
  <p:sldSz cx="18288000" cy="10287000"/>
  <p:notesSz cx="6858000" cy="9144000"/>
  <p:embeddedFontLst>
    <p:embeddedFont>
      <p:font typeface="Calibri (MS) Bold"/>
      <p:regular r:id="Rb53fb1976da04add"/>
    </p:embeddedFont>
    <p:embeddedFont>
      <p:font typeface="Calibri (MS)"/>
      <p:regular r:id="R3fe1466c60034ac0"/>
    </p:embeddedFont>
    <p:embeddedFont>
      <p:font typeface="Calibri (MS) Italics"/>
      <p:regular r:id="R6c2239c9c0b9484a"/>
    </p:embeddedFont>
    <p:embeddedFont>
      <p:font typeface="Calibri (MS) Bold Italics"/>
      <p:regular r:id="Rc1c1a4dc0e744bd9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508a52426a2f412f" /><ns0:Relationship Type="http://schemas.openxmlformats.org/officeDocument/2006/relationships/slideMaster" Target="/ppt/slideMasters/slideMaster1.xml" Id="Rd7b1fe00aab745e8" /><ns0:Relationship Type="http://schemas.openxmlformats.org/officeDocument/2006/relationships/presProps" Target="/ppt/presProps.xml" Id="Rc06a7fdf01ea48cc" /><ns0:Relationship Type="http://schemas.openxmlformats.org/officeDocument/2006/relationships/viewProps" Target="/ppt/viewProps.xml" Id="Rb0c575fbfd50409f" /><ns0:Relationship Type="http://schemas.openxmlformats.org/officeDocument/2006/relationships/tableStyles" Target="/ppt/tableStyles.xml" Id="Rb097a339fe6e4cdf" /><ns0:Relationship Type="http://schemas.openxmlformats.org/officeDocument/2006/relationships/font" Target="/ppt/fonts/font.dat" Id="Rb53fb1976da04add" /><ns0:Relationship Type="http://schemas.openxmlformats.org/officeDocument/2006/relationships/font" Target="/ppt/fonts/font2.dat" Id="R3fe1466c60034ac0" /><ns0:Relationship Type="http://schemas.openxmlformats.org/officeDocument/2006/relationships/font" Target="/ppt/fonts/font3.dat" Id="R6c2239c9c0b9484a" /><ns0:Relationship Type="http://schemas.openxmlformats.org/officeDocument/2006/relationships/font" Target="/ppt/fonts/font4.dat" Id="Rc1c1a4dc0e744bd9" /><ns0:Relationship Type="http://schemas.openxmlformats.org/officeDocument/2006/relationships/slide" Target="/ppt/slides/slide1.xml" Id="R107009e7711f4c40" /><ns0:Relationship Type="http://schemas.openxmlformats.org/officeDocument/2006/relationships/slide" Target="/ppt/slides/slide2.xml" Id="Rf7d363c3863b4d29" /><ns0:Relationship Type="http://schemas.openxmlformats.org/officeDocument/2006/relationships/slide" Target="/ppt/slides/slide3.xml" Id="R43054bfd43d94e45" /><ns0:Relationship Type="http://schemas.openxmlformats.org/officeDocument/2006/relationships/slide" Target="/ppt/slides/slide4.xml" Id="R94265ab175464cb8" /><ns0:Relationship Type="http://schemas.openxmlformats.org/officeDocument/2006/relationships/slide" Target="/ppt/slides/slide5.xml" Id="R9a3e9aa5ea274265" /></ns0:Relationships>
</file>

<file path=ppt/slideLayouts/_rels/slideLayout1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e1a7283faabd4769" /></ns0:Relationships>
</file>

<file path=ppt/slideLayouts/_rels/slideLayout2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7c471189c2c145fa" /></ns0:Relationships>
</file>

<file path=ppt/slideLayouts/_rels/slideLayout3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d8781f4f3dc64947" /></ns0:Relationships>
</file>

<file path=ppt/slideLayouts/_rels/slideLayout4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7234474b89f64886" /></ns0:Relationships>
</file>

<file path=ppt/slideLayouts/_rels/slideLayout5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c82ae7efe3e7425d" /></ns0:Relationships>
</file>

<file path=ppt/slideLayouts/_rels/slideLayout6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894556732ad046d5" /></ns0:Relationships>
</file>

<file path=ppt/slideLayouts/_rels/slideLayout7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5d455eda48474b22" /></ns0:Relationships>
</file>

<file path=ppt/slideLayouts/_rels/slideLayout8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b27acf7d119c43b7" /></ns0:Relationships>
</file>

<file path=ppt/slideLayouts/_rels/slideLayout9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dcdaab383c9f4cbe" /></ns0:Relationships>
</file>

<file path=ppt/slideLayouts/_rels/slideLayout10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4bcf1bf211094225" /></ns0:Relationships>
</file>

<file path=ppt/slideLayouts/_rels/slideLayout11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7c48f7cd5df845e3" /></ns0: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44082E-1DEE-4EDC-873C-D1218BF0AF9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52B1959-106F-4F51-9119-CC38CE82F3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D0FDA50-8BA8-4DB4-AD0B-B8F8736045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1F1BAC9-F5E8-4A30-93C7-0024AB3465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B0FDCF8-18CD-42BB-A54E-4E762D0BA1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3216A6-F3E0-4E1C-9B43-D3E1129202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7B16842-3B93-4652-BD46-0138E9F1144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F50AE-F252-4563-81AF-B7D6DC9614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61A8261-E3C2-4BB9-BB76-D3B680B362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DEB5589-02E6-4C4A-98DD-93825EA458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B4DAF6-672B-4232-A94D-0DDA612A36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9983B01-AB33-4ED3-B554-C2423D53B8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DD9D2E9-F1E5-4554-865B-29A222118E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58FC26B-8229-47A5-A588-FF0231FBDA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61146CF-7FCE-46A1-94B2-471EA0AA2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5ACB258-95BF-4A23-AD37-B88D666828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225A0F7-AA22-4F21-9E28-B09FDB148FC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145E192-EFE9-42AD-BFA0-63C74038B68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455723D-DFCF-4425-BD0F-A69BCF6B66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3D51F74-8863-416E-A645-578C6C12FC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435E365-6952-483B-B374-CDFF5C9F19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AD669D-479E-4EEA-9D4B-0CF4AE651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F675C47-1063-4DEA-B3E3-53CDCD398F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FF2020A-FBF3-420D-9FBC-073D43BA9D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58865DB-1C9D-46DC-A9BC-D5747073736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0017AB5-5F05-4269-A8C3-E1885A03E3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0490862-898E-4B88-B78F-8F8F3A932C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0B5E685-EFDB-4962-83A9-78DD2FA218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6CAABDA-290B-4602-AB74-C7C19B9224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BD6DFE-2C75-42FC-9656-2FCDEFB62A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E52D892-D3D0-4DB0-94BD-6E7E0115B7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8E60E25-3845-4E6B-977D-2060EB5D61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7C9B52A-E02A-4964-97F8-BFCBD428D7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4D15ABE-EEC6-46DE-99D0-2A31BB8097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DCF4696-849B-4B72-B3A2-5DE40A00E3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494DBF8-C8D6-40FF-956A-284C796089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87814B-82C0-431A-A54D-1DAD639FE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E0AB8EF-11C6-4DCF-AD9A-860BBA3B377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36DFAAB-490C-4F23-AB6C-31C2A47F42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41C65CE-1B1C-4063-917C-F1C6257527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E352F94-D892-4890-AD3E-19468AE8E3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C426B68-A6C0-4A42-9BB1-5E8B9CF2FA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7B0BB8-D457-42D2-B1B1-3CC817A708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A3ECD81-84BE-4FD5-AC40-50CA43B9B28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A2BE75-6F26-46B0-8566-22787AB7DF6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E1EA7F1-C961-4F03-A31B-EB70E9C4C0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0822FB0-BFE6-4B58-A576-CDD8B9FED2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F1E3277-02BD-4CF3-8AA8-FC3488B09B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51C6D0-C930-4A7B-B5E3-0E443DA460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97FEFC2-5192-4D10-8F20-453C42A3C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66DA798-1231-47A2-8CF6-B9503015A2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85D07C-0394-4DA9-B7C2-9360D85672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C36060-8B1F-4C61-B619-3004990C36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EFEE388-8500-4087-A1D8-A53D03EA89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69CE80F-CF80-403F-ACA4-A389F1090A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FD1008-54D6-4C00-A46E-32000BCE1D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D00DCF6-BCA2-4709-A238-584956964A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3C5633-4B4D-4695-8218-74758D36CC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?>
<ns0:Relationships xmlns:ns0="http://schemas.openxmlformats.org/package/2006/relationships"><ns0:Relationship Type="http://schemas.openxmlformats.org/officeDocument/2006/relationships/theme" Target="/ppt/slideMasters/theme/theme2.xml" Id="R3606a0d3cc344043" /><ns0:Relationship Type="http://schemas.openxmlformats.org/officeDocument/2006/relationships/slideLayout" Target="/ppt/slideLayouts/slideLayout1.xml" Id="R54e52d9e92af46a9" /><ns0:Relationship Type="http://schemas.openxmlformats.org/officeDocument/2006/relationships/slideLayout" Target="/ppt/slideLayouts/slideLayout2.xml" Id="R9e054cd3f258446c" /><ns0:Relationship Type="http://schemas.openxmlformats.org/officeDocument/2006/relationships/slideLayout" Target="/ppt/slideLayouts/slideLayout3.xml" Id="R19d8a9779fec424a" /><ns0:Relationship Type="http://schemas.openxmlformats.org/officeDocument/2006/relationships/slideLayout" Target="/ppt/slideLayouts/slideLayout4.xml" Id="Reb68193975264e5e" /><ns0:Relationship Type="http://schemas.openxmlformats.org/officeDocument/2006/relationships/slideLayout" Target="/ppt/slideLayouts/slideLayout5.xml" Id="R96b4def34dbc48b2" /><ns0:Relationship Type="http://schemas.openxmlformats.org/officeDocument/2006/relationships/slideLayout" Target="/ppt/slideLayouts/slideLayout6.xml" Id="R20b758908168410c" /><ns0:Relationship Type="http://schemas.openxmlformats.org/officeDocument/2006/relationships/slideLayout" Target="/ppt/slideLayouts/slideLayout7.xml" Id="R72f87755fa5d4b3c" /><ns0:Relationship Type="http://schemas.openxmlformats.org/officeDocument/2006/relationships/slideLayout" Target="/ppt/slideLayouts/slideLayout8.xml" Id="R55eb28d497164dfe" /><ns0:Relationship Type="http://schemas.openxmlformats.org/officeDocument/2006/relationships/slideLayout" Target="/ppt/slideLayouts/slideLayout9.xml" Id="R1081a23568bb4fb9" /><ns0:Relationship Type="http://schemas.openxmlformats.org/officeDocument/2006/relationships/slideLayout" Target="/ppt/slideLayouts/slideLayout10.xml" Id="R7a37f8bafbbb40d0" /><ns0:Relationship Type="http://schemas.openxmlformats.org/officeDocument/2006/relationships/slideLayout" Target="/ppt/slideLayouts/slideLayout11.xml" Id="Rd2a9cdb66aa04b51" /></ns0: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2670D97-B023-400B-916C-69DD0FD320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F21352F-BF8E-47B6-94F0-31BC06977A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9903F72-0A41-4AA1-88D2-AED84E36B02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6907F05-2F5B-4BEF-BEEA-D2CCEA5124F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51A6C65-983F-47D1-958E-E36E047A20E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e52d9e92af46a9"/>
    <p:sldLayoutId xmlns:r="http://schemas.openxmlformats.org/officeDocument/2006/relationships" id="2147483650" r:id="R9e054cd3f258446c"/>
    <p:sldLayoutId xmlns:r="http://schemas.openxmlformats.org/officeDocument/2006/relationships" id="2147483651" r:id="R19d8a9779fec424a"/>
    <p:sldLayoutId xmlns:r="http://schemas.openxmlformats.org/officeDocument/2006/relationships" id="2147483652" r:id="Reb68193975264e5e"/>
    <p:sldLayoutId xmlns:r="http://schemas.openxmlformats.org/officeDocument/2006/relationships" id="2147483653" r:id="R96b4def34dbc48b2"/>
    <p:sldLayoutId xmlns:r="http://schemas.openxmlformats.org/officeDocument/2006/relationships" id="2147483654" r:id="R20b758908168410c"/>
    <p:sldLayoutId xmlns:r="http://schemas.openxmlformats.org/officeDocument/2006/relationships" id="2147483655" r:id="R72f87755fa5d4b3c"/>
    <p:sldLayoutId xmlns:r="http://schemas.openxmlformats.org/officeDocument/2006/relationships" id="2147483656" r:id="R55eb28d497164dfe"/>
    <p:sldLayoutId xmlns:r="http://schemas.openxmlformats.org/officeDocument/2006/relationships" id="2147483657" r:id="R1081a23568bb4fb9"/>
    <p:sldLayoutId xmlns:r="http://schemas.openxmlformats.org/officeDocument/2006/relationships" id="2147483658" r:id="R7a37f8bafbbb40d0"/>
    <p:sldLayoutId xmlns:r="http://schemas.openxmlformats.org/officeDocument/2006/relationships" id="2147483659" r:id="Rd2a9cdb66aa04b51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Calibri (MS)"/>
          <a:ea typeface="Calibri (MS)"/>
          <a:cs typeface="Calibri (MS)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Calibri (MS)"/>
          <a:ea typeface="Calibri (MS)"/>
          <a:cs typeface="Calibri (MS)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alibri (MS)"/>
          <a:ea typeface="Calibri (MS)"/>
          <a:cs typeface="Calibri (MS)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Calibri (MS)"/>
          <a:ea typeface="Calibri (MS)"/>
          <a:cs typeface="Calibri (MS)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(MS)"/>
          <a:ea typeface="Calibri (MS)"/>
          <a:cs typeface="Calibri (MS)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alibri (MS)"/>
          <a:ea typeface="Calibri (MS)"/>
          <a:cs typeface="Calibri (MS)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 (MS)"/>
          <a:ea typeface="Calibri (MS)"/>
          <a:cs typeface="Calibri (MS)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 (MS)"/>
          <a:ea typeface="Calibri (MS)"/>
          <a:cs typeface="Calibri (MS)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 (MS)"/>
          <a:ea typeface="Calibri (MS)"/>
          <a:cs typeface="Calibri (MS)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 (MS)"/>
          <a:ea typeface="Calibri (MS)"/>
          <a:cs typeface="Calibri (MS)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Calibri (MS)"/>
          <a:ea typeface="Calibri (MS)"/>
          <a:cs typeface="Calibri (MS)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Calibri (MS)"/>
          <a:ea typeface="Calibri (MS)"/>
          <a:cs typeface="Calibri (MS)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Calibri (MS)"/>
          <a:ea typeface="Calibri (MS)"/>
          <a:cs typeface="Calibri (MS)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Calibri (MS)"/>
          <a:ea typeface="Calibri (MS)"/>
          <a:cs typeface="Calibri (MS)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Calibri (MS)"/>
          <a:ea typeface="Calibri (MS)"/>
          <a:cs typeface="Calibri (MS)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Calibri (MS)"/>
          <a:ea typeface="Calibri (MS)"/>
          <a:cs typeface="Calibri (MS)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Calibri (MS)"/>
          <a:ea typeface="Calibri (MS)"/>
          <a:cs typeface="Calibri (MS)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Calibri (MS)"/>
          <a:ea typeface="Calibri (MS)"/>
          <a:cs typeface="Calibri (MS)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Calibri (MS)"/>
          <a:ea typeface="Calibri (MS)"/>
          <a:cs typeface="Calibri (MS)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Calibri (MS)"/>
        <a:font script="Hang" typeface="Calibri (MS)"/>
        <a:font script="Hans" typeface="Calibri (MS)"/>
        <a:font script="Hant" typeface="Calibri (MS)"/>
        <a:font script="Arab" typeface="Calibri (MS)"/>
        <a:font script="Hebr" typeface="Calibri (MS)"/>
        <a:font script="Thai" typeface="Calibri (MS)"/>
        <a:font script="Ethi" typeface="Calibri (MS)"/>
        <a:font script="Beng" typeface="Calibri (MS)"/>
        <a:font script="Gujr" typeface="Calibri (MS)"/>
        <a:font script="Khmr" typeface="Calibri (MS)"/>
        <a:font script="Knda" typeface="Calibri (MS)"/>
        <a:font script="Guru" typeface="Calibri (MS)"/>
        <a:font script="Cans" typeface="Calibri (MS)"/>
        <a:font script="Cher" typeface="Calibri (MS)"/>
        <a:font script="Yiii" typeface="Calibri (MS)"/>
        <a:font script="Tibt" typeface="Calibri (MS)"/>
        <a:font script="Thaa" typeface="Calibri (MS)"/>
        <a:font script="Deva" typeface="Calibri (MS)"/>
        <a:font script="Telu" typeface="Calibri (MS)"/>
        <a:font script="Taml" typeface="Calibri (MS)"/>
        <a:font script="Syrc" typeface="Calibri (MS)"/>
        <a:font script="Orya" typeface="Calibri (MS)"/>
        <a:font script="Mlym" typeface="Calibri (MS)"/>
        <a:font script="Laoo" typeface="Calibri (MS)"/>
        <a:font script="Sinh" typeface="Calibri (MS)"/>
        <a:font script="Mong" typeface="Calibri (MS)"/>
        <a:font script="Viet" typeface="Calibri (MS)"/>
        <a:font script="Uigh" typeface="Calibri (MS)"/>
      </a:majorFont>
      <a:minorFont>
        <a:latin typeface="Calibri"/>
        <a:ea typeface=""/>
        <a:cs typeface=""/>
        <a:font script="Jpan" typeface="Calibri (MS)"/>
        <a:font script="Hang" typeface="Calibri (MS)"/>
        <a:font script="Hans" typeface="Calibri (MS)"/>
        <a:font script="Hant" typeface="Calibri (MS)"/>
        <a:font script="Arab" typeface="Calibri (MS)"/>
        <a:font script="Hebr" typeface="Calibri (MS)"/>
        <a:font script="Thai" typeface="Calibri (MS)"/>
        <a:font script="Ethi" typeface="Calibri (MS)"/>
        <a:font script="Beng" typeface="Calibri (MS)"/>
        <a:font script="Gujr" typeface="Calibri (MS)"/>
        <a:font script="Khmr" typeface="Calibri (MS)"/>
        <a:font script="Knda" typeface="Calibri (MS)"/>
        <a:font script="Guru" typeface="Calibri (MS)"/>
        <a:font script="Cans" typeface="Calibri (MS)"/>
        <a:font script="Cher" typeface="Calibri (MS)"/>
        <a:font script="Yiii" typeface="Calibri (MS)"/>
        <a:font script="Tibt" typeface="Calibri (MS)"/>
        <a:font script="Thaa" typeface="Calibri (MS)"/>
        <a:font script="Deva" typeface="Calibri (MS)"/>
        <a:font script="Telu" typeface="Calibri (MS)"/>
        <a:font script="Taml" typeface="Calibri (MS)"/>
        <a:font script="Syrc" typeface="Calibri (MS)"/>
        <a:font script="Orya" typeface="Calibri (MS)"/>
        <a:font script="Mlym" typeface="Calibri (MS)"/>
        <a:font script="Laoo" typeface="Calibri (MS)"/>
        <a:font script="Sinh" typeface="Calibri (MS)"/>
        <a:font script="Mong" typeface="Calibri (MS)"/>
        <a:font script="Viet" typeface="Calibri (MS)"/>
        <a:font script="Uigh" typeface="Calibri (MS)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c0a7f8f20129457f" /><ns0:Relationship Type="http://schemas.openxmlformats.org/officeDocument/2006/relationships/image" Target="/ppt/media/image.png" Id="R019a308c30c5402c" /><ns0:Relationship Id="rIdDeckLink3" Type="http://schemas.openxmlformats.org/officeDocument/2006/relationships/hyperlink" Target="https://github.com/Joannapreethi28/ICC-26" TargetMode="External" /><ns0:Relationship Id="rIdDeckLink4" Type="http://schemas.openxmlformats.org/officeDocument/2006/relationships/hyperlink" Target="https://github.com/Joannapreethi28/ICC-26" TargetMode="External" /><ns0:Relationship Id="rIdDeckLink5" Type="http://schemas.openxmlformats.org/officeDocument/2006/relationships/hyperlink" Target="https://gitdiagram.com/joannapreethi28/icc-26" TargetMode="External" /><ns0:Relationship Id="rIdDeckLink6" Type="http://schemas.openxmlformats.org/officeDocument/2006/relationships/hyperlink" Target="https://gitdiagram.com/joannapreethi28/icc-26" TargetMode="External" /><ns0:Relationship Id="rIdDeckLink7" Type="http://schemas.openxmlformats.org/officeDocument/2006/relationships/hyperlink" Target="https://gitingest.com/joannapreethi28/icc-26" TargetMode="External" /><ns0:Relationship Id="rIdDeckLink8" Type="http://schemas.openxmlformats.org/officeDocument/2006/relationships/hyperlink" Target="https://gitingest.com/joannapreethi28/icc-26" TargetMode="External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bd79e7444cc849b0" /><ns0:Relationship Type="http://schemas.openxmlformats.org/officeDocument/2006/relationships/image" Target="/ppt/media/image2.png" Id="Re420d36f1f2849cb" /><ns0:Relationship Id="rIdDeckLink3" Type="http://schemas.openxmlformats.org/officeDocument/2006/relationships/hyperlink" Target="https://github.com/Joannapreethi28/ICC-26/blob/main/data/golden/records_v1.csv" TargetMode="External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1a68a9bacd1341cf" /><ns0:Relationship Type="http://schemas.openxmlformats.org/officeDocument/2006/relationships/image" Target="/ppt/media/image3.png" Id="R06afb813c60b444c" /><ns0:Relationship Id="rIdDeckLink3" Type="http://schemas.openxmlformats.org/officeDocument/2006/relationships/hyperlink" Target="https://github.com/Joannapreethi28/ICC-26/blob/main/docs/model_card.md" TargetMode="External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bb91ce57bf4e46b2" /><ns0:Relationship Type="http://schemas.openxmlformats.org/officeDocument/2006/relationships/chart" Target="/ppt/slides/charts/chart1.xml" Id="Refd19bd229e14fc6" /><ns0:Relationship Id="rIdDeckLink3" Type="http://schemas.openxmlformats.org/officeDocument/2006/relationships/hyperlink" Target="https://github.com/Joannapreethi28/ICC-26/blob/main/results/e1/tables.md" TargetMode="External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37fdd128a4724692" /><ns0:Relationship Type="http://schemas.openxmlformats.org/officeDocument/2006/relationships/image" Target="/ppt/media/image3.png" Id="R1504361a9b6d4f04" /><ns0:Relationship Id="rIdDeckLink3" Type="http://schemas.openxmlformats.org/officeDocument/2006/relationships/hyperlink" Target="https://www.unesco.org/en/articles/towards-victory-gender-equality" TargetMode="External" /><ns0:Relationship Id="rIdDeckLink4" Type="http://schemas.openxmlformats.org/officeDocument/2006/relationships/hyperlink" Target="https://olympic.ca/wp-content/uploads/2024/11/IOC-Portrayal-Guidelines-2024.pdf" TargetMode="External" /></ns0: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Women’s visibility rate</c:v>
          </c:tx>
          <c:spPr>
            <a:solidFill xmlns:a="http://schemas.openxmlformats.org/drawingml/2006/main">
              <a:srgbClr val="866B50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CB3A9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88D7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44392D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Plain model</c:v>
                </c:pt>
                <c:pt idx="1">
                  <c:v>Prompt: show both</c:v>
                </c:pt>
                <c:pt idx="2">
                  <c:v>Model + our layer</c:v>
                </c:pt>
              </c:strCache>
            </c:strRef>
          </c:cat>
          <c:val>
            <c:numRef>
              <c:f>'Chart Data'!$B$2:$B$4</c:f>
              <c:numCache>
                <c:formatCode>0.0%</c:formatCode>
                <c:ptCount val="3"/>
                <c:pt idx="0">
                  <c:v>0.11</c:v>
                </c:pt>
                <c:pt idx="1">
                  <c:v>0.189</c:v>
                </c:pt>
                <c:pt idx="2">
                  <c:v>0.528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4350" b="1">
                  <a:solidFill>
                    <a:srgbClr val="44392D"/>
                  </a:solidFill>
                  <a:latin typeface="Calibri (MS)"/>
                  <a:ea typeface="Calibri (MS)"/>
                  <a:cs typeface="Calibri (MS)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7A28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44392D"/>
                </a:solidFill>
                <a:latin typeface="Calibri (MS)"/>
                <a:ea typeface="Calibri (MS)"/>
                <a:cs typeface="Calibri (MS)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DDD5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625D57"/>
                </a:solidFill>
                <a:latin typeface="Calibri (MS)"/>
                <a:ea typeface="Calibri (MS)"/>
                <a:cs typeface="Calibri (MS)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3" name="Freeform 3">
            <a:extLst>
              <a:ext uri="{FF2B5EF4-FFF2-40B4-BE49-F238E27FC236}">
                <ns2:creationId id="{1ABC4F42-2F6F-40D2-A42C-8F5EB3644025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0369912" y="-3334446"/>
            <a:ext cx="18583006" cy="4363146"/>
          </a:xfrm>
          <a:custGeom>
            <a:rect l="l" t="t" r="r" b="b"/>
            <a:pathLst>
              <a:path w="1730892" h="406400">
                <a:moveTo>
                  <a:pt x="1527692" y="0"/>
                </a:moveTo>
                <a:cubicBezTo>
                  <a:pt x="1639916" y="0"/>
                  <a:pt x="1730892" y="90976"/>
                  <a:pt x="1730892" y="203200"/>
                </a:cubicBezTo>
                <a:cubicBezTo>
                  <a:pt x="1730892" y="315424"/>
                  <a:pt x="1639916" y="406400"/>
                  <a:pt x="15276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>
            <a:srgbClr val="866B50"/>
          </a:solidFill>
        </p:spPr>
      </p:sp>
      <p:sp>
        <p:nvSpPr>
          <p:cNvPr id="6" name="Freeform 6">
            <a:extLst>
              <a:ext uri="{FF2B5EF4-FFF2-40B4-BE49-F238E27FC236}">
                <ns2:creationId id="{8B2D5E5A-5B30-4904-990B-EC07CB37F005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3210759" y="-3750424"/>
            <a:ext cx="8335448" cy="4779124"/>
          </a:xfrm>
          <a:custGeom>
            <a:rect l="l" t="t" r="r" b="b"/>
            <a:pathLst>
              <a:path w="708817" h="406400">
                <a:moveTo>
                  <a:pt x="505617" y="0"/>
                </a:moveTo>
                <a:cubicBezTo>
                  <a:pt x="617842" y="0"/>
                  <a:pt x="708817" y="90976"/>
                  <a:pt x="708817" y="203200"/>
                </a:cubicBezTo>
                <a:cubicBezTo>
                  <a:pt x="708817" y="315424"/>
                  <a:pt x="617842" y="406400"/>
                  <a:pt x="505617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>
            <a:srgbClr val="44392D"/>
          </a:solidFill>
        </p:spPr>
      </p:sp>
      <p:sp>
        <p:nvSpPr>
          <p:cNvPr id="9" name="Freeform 9">
            <a:extLst>
              <a:ext uri="{FF2B5EF4-FFF2-40B4-BE49-F238E27FC236}">
                <ns2:creationId id="{79E8942A-D5CE-4605-9D85-7ACE903EB62F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3716000" y="9953625"/>
            <a:ext cx="23364825" cy="11534775"/>
          </a:xfrm>
          <a:custGeom>
            <a:rect l="l" t="t" r="r" b="b"/>
            <a:pathLst>
              <a:path w="823317" h="406400">
                <a:moveTo>
                  <a:pt x="620117" y="0"/>
                </a:moveTo>
                <a:cubicBezTo>
                  <a:pt x="732341" y="0"/>
                  <a:pt x="823317" y="90976"/>
                  <a:pt x="823317" y="203200"/>
                </a:cubicBezTo>
                <a:cubicBezTo>
                  <a:pt x="823317" y="315424"/>
                  <a:pt x="732341" y="406400"/>
                  <a:pt x="620117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>
            <a:srgbClr val="866B50"/>
          </a:solidFill>
        </p:spPr>
      </p:sp>
      <p:sp>
        <p:nvSpPr>
          <p:cNvPr id="12" name="Freeform 12">
            <a:extLst>
              <a:ext uri="{FF2B5EF4-FFF2-40B4-BE49-F238E27FC236}">
                <ns2:creationId id="{EB9833C3-1EDB-4075-B845-DE701B2CE4DA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5640050" y="9906000"/>
            <a:ext cx="21155025" cy="10572750"/>
          </a:xfrm>
          <a:custGeom>
            <a:rect l="l" t="t" r="r" b="b"/>
            <a:pathLst>
              <a:path w="812800" h="406400">
                <a:moveTo>
                  <a:pt x="609600" y="0"/>
                </a:moveTo>
                <a:cubicBezTo>
                  <a:pt x="721824" y="0"/>
                  <a:pt x="812800" y="90976"/>
                  <a:pt x="812800" y="203200"/>
                </a:cubicBezTo>
                <a:cubicBezTo>
                  <a:pt x="812800" y="315424"/>
                  <a:pt x="721824" y="406400"/>
                  <a:pt x="6096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>
            <a:srgbClr val="44392D"/>
          </a:solidFill>
        </p:spPr>
      </p:sp>
      <p:sp>
        <p:nvSpPr>
          <p:cNvPr id="16" name="Freeform 16">
            <a:extLst>
              <a:ext uri="{FF2B5EF4-FFF2-40B4-BE49-F238E27FC236}">
                <ns2:creationId id="{950A1732-BCD9-4D91-A276-56191431823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62000" y="2447925"/>
            <a:ext cx="16573500" cy="3457575"/>
          </a:xfrm>
          <a:custGeom>
            <a:rect l="l" t="t" r="r" b="b"/>
            <a:pathLst>
              <a:path w="1285410" h="1290862">
                <a:moveTo>
                  <a:pt x="93609" y="0"/>
                </a:moveTo>
                <a:lnTo>
                  <a:pt x="1191801" y="0"/>
                </a:lnTo>
                <a:cubicBezTo>
                  <a:pt x="1216627" y="0"/>
                  <a:pt x="1240437" y="9862"/>
                  <a:pt x="1257992" y="27417"/>
                </a:cubicBezTo>
                <a:cubicBezTo>
                  <a:pt x="1275547" y="44972"/>
                  <a:pt x="1285410" y="68782"/>
                  <a:pt x="1285410" y="93609"/>
                </a:cubicBezTo>
                <a:lnTo>
                  <a:pt x="1285410" y="1197253"/>
                </a:lnTo>
                <a:cubicBezTo>
                  <a:pt x="1285410" y="1248952"/>
                  <a:pt x="1243499" y="1290862"/>
                  <a:pt x="1191801" y="1290862"/>
                </a:cubicBezTo>
                <a:lnTo>
                  <a:pt x="93609" y="1290862"/>
                </a:lnTo>
                <a:cubicBezTo>
                  <a:pt x="41910" y="1290862"/>
                  <a:pt x="0" y="1248952"/>
                  <a:pt x="0" y="1197253"/>
                </a:cubicBezTo>
                <a:lnTo>
                  <a:pt x="0" y="93609"/>
                </a:lnTo>
                <a:cubicBezTo>
                  <a:pt x="0" y="41910"/>
                  <a:pt x="41910" y="0"/>
                  <a:pt x="93609" y="0"/>
                </a:cubicBezTo>
                <a:close/>
              </a:path>
            </a:pathLst>
          </a:custGeom>
          <a:solidFill>
            <a:srgbClr val="866B50"/>
          </a:solidFill>
          <a:ln w="104775">
            <a:solidFill>
              <a:srgbClr val="FFFFFF"/>
            </a:solidFill>
            <a:prstDash val="solid"/>
          </a:ln>
        </p:spPr>
      </p:sp>
      <p:sp>
        <p:nvSpPr>
          <p:cNvPr id="17" name="title">
            <a:extLst>
              <a:ext uri="{FF2B5EF4-FFF2-40B4-BE49-F238E27FC236}">
                <ns2:creationId id="{9C0A68A9-4B35-4D52-9D39-C28989EF8B74}"/>
              </a:ext>
            </a:extLst>
          </p:cNvPr>
          <p:cNvSpPr>
            <a:spLocks noGrp="1"/>
          </p:cNvSpPr>
          <p:nvPr/>
        </p:nvSpPr>
        <p:spPr>
          <a:xfrm>
            <a:off x="762000" y="457200"/>
            <a:ext cx="14287500" cy="99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585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585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rPr>
              <a:t>Make AI Know Her</a:t>
            </a:r>
          </a:p>
        </p:txBody>
      </p:sp>
      <p:sp>
        <p:nvSpPr>
          <p:cNvPr id="18" name="opening-hook">
            <a:extLst>
              <a:ext uri="{FF2B5EF4-FFF2-40B4-BE49-F238E27FC236}">
                <ns2:creationId id="{E9122B3B-EBFC-494A-8829-3D674C1CFECE}"/>
              </a:ext>
            </a:extLst>
          </p:cNvPr>
          <p:cNvSpPr>
            <a:spLocks noGrp="1"/>
          </p:cNvSpPr>
          <p:nvPr/>
        </p:nvSpPr>
        <p:spPr>
          <a:xfrm>
            <a:off x="762000" y="1457325"/>
            <a:ext cx="1619250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975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3975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rPr>
              <a:t>AI can make women’s cricket invisible</a:t>
            </a:r>
          </a:p>
        </p:txBody>
      </p:sp>
      <p:sp>
        <p:nvSpPr>
          <p:cNvPr id="19" name="zoom-caption">
            <a:extLst>
              <a:ext uri="{FF2B5EF4-FFF2-40B4-BE49-F238E27FC236}">
                <ns2:creationId id="{28E75DDC-EC4B-49F7-9A8B-930662C9D8E8}"/>
              </a:ext>
            </a:extLst>
          </p:cNvPr>
          <p:cNvSpPr>
            <a:spLocks noGrp="1"/>
          </p:cNvSpPr>
          <p:nvPr/>
        </p:nvSpPr>
        <p:spPr>
          <a:xfrm>
            <a:off x="904875" y="2124075"/>
            <a:ext cx="16192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75" b="1">
                <a:solidFill>
                  <a:srgbClr val="866B50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2175" b="1">
                <a:solidFill>
                  <a:srgbClr val="866B50"/>
                </a:solidFill>
                <a:latin typeface="Calibri (MS) Bold"/>
                <a:ea typeface="Calibri (MS) Bold"/>
                <a:cs typeface="Calibri (MS) Bold"/>
              </a:rPr>
              <a:t>GOOGLE AI MODE: MAGNIFIED QUESTION AND OPENING ANSWER</a:t>
            </a:r>
          </a:p>
        </p:txBody>
      </p:sp>
      <p:sp>
        <p:nvSpPr>
          <p:cNvPr id="21" name="Magnified original screenshot excerpt showing the complete query and opening answer.">
            <a:extLst>
              <a:ext uri="{FF2B5EF4-FFF2-40B4-BE49-F238E27FC236}">
                <ns2:creationId id="{EAE26F31-0B39-4927-AAFD-034B84BCDA90}"/>
              </a:ext>
            </a:extLst>
          </p:cNvPr>
          <p:cNvSpPr>
            <a:spLocks noGrp="1"/>
          </p:cNvSpPr>
          <p:nvPr/>
        </p:nvSpPr>
        <p:spPr>
          <a:xfrm>
            <a:off x="952500" y="2571750"/>
            <a:ext cx="16192500" cy="3238500"/>
          </a:xfrm>
          <a:prstGeom prst="rect">
            <a:avLst/>
          </a:prstGeom>
          <a:blipFill>
            <a:blip r:embed="R019a308c30c5402c"/>
            <a:srcRect l="13041" t="11960" r="42619" b="72401"/>
            <a:stretch>
              <a:fillRect l="0" t="0" r="0" b="0"/>
            </a:stretch>
          </a:blipFill>
          <a:ln w="0">
            <a:noFill/>
          </a:ln>
        </p:spPr>
      </p:sp>
      <p:sp>
        <p:nvSpPr>
          <p:cNvPr id="22" name="problem-explanation">
            <a:extLst>
              <a:ext uri="{FF2B5EF4-FFF2-40B4-BE49-F238E27FC236}">
                <ns2:creationId id="{E0322B7A-972D-4BA9-89B2-7301D572918C}"/>
              </a:ext>
            </a:extLst>
          </p:cNvPr>
          <p:cNvSpPr>
            <a:spLocks noGrp="1"/>
          </p:cNvSpPr>
          <p:nvPr/>
        </p:nvSpPr>
        <p:spPr>
          <a:xfrm>
            <a:off x="952500" y="6486525"/>
            <a:ext cx="8096250" cy="1285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225" b="0">
                <a:solidFill>
                  <a:srgbClr val="44392D"/>
                </a:solidFill>
                <a:latin typeface="Calibri (MS)"/>
                <a:ea typeface="Calibri (MS)"/>
                <a:cs typeface="Calibri (MS)"/>
              </a:defRPr>
            </a:pPr>
            <a:r>
              <a:rPr sz="3225" b="0">
                <a:solidFill>
                  <a:srgbClr val="44392D"/>
                </a:solidFill>
                <a:latin typeface="Calibri (MS)"/>
                <a:ea typeface="Calibri (MS)"/>
                <a:cs typeface="Calibri (MS)"/>
              </a:rPr>
              <a:t>A neutral cricket question receives</a:t>
            </a:r>
          </a:p>
          <a:p>
            <a:pPr algn="l">
              <a:defRPr sz="3225" b="0">
                <a:solidFill>
                  <a:srgbClr val="44392D"/>
                </a:solidFill>
                <a:latin typeface="Calibri (MS)"/>
                <a:ea typeface="Calibri (MS)"/>
                <a:cs typeface="Calibri (MS)"/>
              </a:defRPr>
            </a:pPr>
            <a:r>
              <a:rPr sz="3225" b="0">
                <a:solidFill>
                  <a:srgbClr val="44392D"/>
                </a:solidFill>
                <a:latin typeface="Calibri (MS)"/>
                <a:ea typeface="Calibri (MS)"/>
                <a:cs typeface="Calibri (MS)"/>
              </a:rPr>
              <a:t>an answer about men’s records.</a:t>
            </a:r>
          </a:p>
        </p:txBody>
      </p:sp>
      <p:sp>
        <p:nvSpPr>
          <p:cNvPr id="23" name="problem-impact">
            <a:extLst>
              <a:ext uri="{FF2B5EF4-FFF2-40B4-BE49-F238E27FC236}">
                <ns2:creationId id="{E5A07A44-5BD7-4AD2-AA6B-3806949D6069}"/>
              </a:ext>
            </a:extLst>
          </p:cNvPr>
          <p:cNvSpPr>
            <a:spLocks noGrp="1"/>
          </p:cNvSpPr>
          <p:nvPr/>
        </p:nvSpPr>
        <p:spPr>
          <a:xfrm>
            <a:off x="9810750" y="6486525"/>
            <a:ext cx="7334250" cy="1666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225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3225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rPr>
              <a:t>Women lose visibility when fans</a:t>
            </a:r>
          </a:p>
          <a:p>
            <a:pPr algn="l">
              <a:defRPr sz="3225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3225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rPr>
              <a:t>do not know to ask about them.</a:t>
            </a:r>
          </a:p>
        </p:txBody>
      </p:sp>
      <p:sp>
        <p:nvSpPr>
          <p:cNvPr id="24" name="evidence-qualifier">
            <a:extLst>
              <a:ext uri="{FF2B5EF4-FFF2-40B4-BE49-F238E27FC236}">
                <ns2:creationId id="{B684BF59-D21E-42CE-A5BA-508CD183C030}"/>
              </a:ext>
            </a:extLst>
          </p:cNvPr>
          <p:cNvSpPr>
            <a:spLocks noGrp="1"/>
          </p:cNvSpPr>
          <p:nvPr/>
        </p:nvSpPr>
        <p:spPr>
          <a:xfrm>
            <a:off x="952500" y="8439150"/>
            <a:ext cx="1619250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625D57"/>
                </a:solidFill>
                <a:latin typeface="Calibri (MS)"/>
                <a:ea typeface="Calibri (MS)"/>
                <a:cs typeface="Calibri (MS)"/>
              </a:defRPr>
            </a:pPr>
            <a:r>
              <a:rPr sz="2100" b="0">
                <a:solidFill>
                  <a:srgbClr val="625D57"/>
                </a:solidFill>
                <a:latin typeface="Calibri (MS)"/>
                <a:ea typeface="Calibri (MS)"/>
                <a:cs typeface="Calibri (MS)"/>
              </a:rPr>
              <a:t>Individual example. Enlarged excerpt from the original Google AI Mode screenshot.</a:t>
            </a:r>
          </a:p>
        </p:txBody>
      </p:sp>
      <p:sp>
        <p:nvSpPr>
          <p:cNvPr id="25" name="github-link">
            <a:extLst>
              <a:ext uri="{FF2B5EF4-FFF2-40B4-BE49-F238E27FC236}">
                <ns2:creationId id="{80712F13-31FD-4DC7-AE69-8B5B3780CB74}"/>
              </a:ext>
            </a:extLst>
            <a:hlinkClick r:id="rIdDeckLink3"/>
          </p:cNvPr>
          <p:cNvSpPr>
            <a:spLocks noGrp="1"/>
          </p:cNvSpPr>
          <p:nvPr/>
        </p:nvSpPr>
        <p:spPr>
          <a:xfrm>
            <a:off x="1285875" y="9201150"/>
            <a:ext cx="4572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75" b="1">
                <a:solidFill>
                  <a:srgbClr val="866B50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2175" b="1">
                <a:solidFill>
                  <a:srgbClr val="866B50"/>
                </a:solidFill>
                <a:latin typeface="Calibri (MS) Bold"/>
                <a:ea typeface="Calibri (MS) Bold"/>
                <a:cs typeface="Calibri (MS) Bold"/>
                <a:hlinkClick r:id="rIdDeckLink3"/>
              </a:rPr>
              <a:t>GitHub repository</a:t>
            </a:r>
          </a:p>
        </p:txBody>
      </p:sp>
      <p:sp>
        <p:nvSpPr>
          <p:cNvPr id="26" name="github-url">
            <a:extLst>
              <a:ext uri="{FF2B5EF4-FFF2-40B4-BE49-F238E27FC236}">
                <ns2:creationId id="{FA2D9811-0F74-4DFB-9605-7B105D1F0E05}"/>
              </a:ext>
            </a:extLst>
            <a:hlinkClick r:id="rIdDeckLink4"/>
          </p:cNvPr>
          <p:cNvSpPr>
            <a:spLocks noGrp="1"/>
          </p:cNvSpPr>
          <p:nvPr/>
        </p:nvSpPr>
        <p:spPr>
          <a:xfrm>
            <a:off x="1285875" y="9610725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25D57"/>
                </a:solidFill>
                <a:latin typeface="Calibri (MS)"/>
                <a:ea typeface="Calibri (MS)"/>
                <a:cs typeface="Calibri (MS)"/>
              </a:defRPr>
            </a:pPr>
            <a:r>
              <a:rPr sz="1725" b="0">
                <a:solidFill>
                  <a:srgbClr val="625D57"/>
                </a:solidFill>
                <a:latin typeface="Calibri (MS)"/>
                <a:ea typeface="Calibri (MS)"/>
                <a:cs typeface="Calibri (MS)"/>
                <a:hlinkClick r:id="rIdDeckLink4"/>
              </a:rPr>
              <a:t>github.com/Joannapreethi28/ICC-26</a:t>
            </a:r>
          </a:p>
        </p:txBody>
      </p:sp>
      <p:sp>
        <p:nvSpPr>
          <p:cNvPr id="27" name="diagram-link">
            <a:extLst>
              <a:ext uri="{FF2B5EF4-FFF2-40B4-BE49-F238E27FC236}">
                <ns2:creationId id="{06257033-3DB9-49FE-99E9-56F1CB313E90}"/>
              </a:ext>
            </a:extLst>
            <a:hlinkClick r:id="rIdDeckLink5"/>
          </p:cNvPr>
          <p:cNvSpPr>
            <a:spLocks noGrp="1"/>
          </p:cNvSpPr>
          <p:nvPr/>
        </p:nvSpPr>
        <p:spPr>
          <a:xfrm>
            <a:off x="6858000" y="9201150"/>
            <a:ext cx="4857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75" b="1">
                <a:solidFill>
                  <a:srgbClr val="866B50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2175" b="1">
                <a:solidFill>
                  <a:srgbClr val="866B50"/>
                </a:solidFill>
                <a:latin typeface="Calibri (MS) Bold"/>
                <a:ea typeface="Calibri (MS) Bold"/>
                <a:cs typeface="Calibri (MS) Bold"/>
                <a:hlinkClick r:id="rIdDeckLink5"/>
              </a:rPr>
              <a:t>Architecture diagram</a:t>
            </a:r>
          </a:p>
        </p:txBody>
      </p:sp>
      <p:sp>
        <p:nvSpPr>
          <p:cNvPr id="28" name="diagram-url">
            <a:extLst>
              <a:ext uri="{FF2B5EF4-FFF2-40B4-BE49-F238E27FC236}">
                <ns2:creationId id="{352855A8-0042-4B9B-A821-0053C2D70F0D}"/>
              </a:ext>
            </a:extLst>
            <a:hlinkClick r:id="rIdDeckLink6"/>
          </p:cNvPr>
          <p:cNvSpPr>
            <a:spLocks noGrp="1"/>
          </p:cNvSpPr>
          <p:nvPr/>
        </p:nvSpPr>
        <p:spPr>
          <a:xfrm>
            <a:off x="6858000" y="9610725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25D57"/>
                </a:solidFill>
                <a:latin typeface="Calibri (MS)"/>
                <a:ea typeface="Calibri (MS)"/>
                <a:cs typeface="Calibri (MS)"/>
              </a:defRPr>
            </a:pPr>
            <a:r>
              <a:rPr sz="1725" b="0">
                <a:solidFill>
                  <a:srgbClr val="625D57"/>
                </a:solidFill>
                <a:latin typeface="Calibri (MS)"/>
                <a:ea typeface="Calibri (MS)"/>
                <a:cs typeface="Calibri (MS)"/>
                <a:hlinkClick r:id="rIdDeckLink6"/>
              </a:rPr>
              <a:t>gitdiagram.com/joannapreethi28/icc-26</a:t>
            </a:r>
          </a:p>
        </p:txBody>
      </p:sp>
      <p:sp>
        <p:nvSpPr>
          <p:cNvPr id="29" name="ingest-link">
            <a:extLst>
              <a:ext uri="{FF2B5EF4-FFF2-40B4-BE49-F238E27FC236}">
                <ns2:creationId id="{32031CBB-4A73-44FC-9EA9-67A5905B79E5}"/>
              </a:ext>
            </a:extLst>
            <a:hlinkClick r:id="rIdDeckLink7"/>
          </p:cNvPr>
          <p:cNvSpPr>
            <a:spLocks noGrp="1"/>
          </p:cNvSpPr>
          <p:nvPr/>
        </p:nvSpPr>
        <p:spPr>
          <a:xfrm>
            <a:off x="12668250" y="9201150"/>
            <a:ext cx="4381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75" b="1">
                <a:solidFill>
                  <a:srgbClr val="866B50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2175" b="1">
                <a:solidFill>
                  <a:srgbClr val="866B50"/>
                </a:solidFill>
                <a:latin typeface="Calibri (MS) Bold"/>
                <a:ea typeface="Calibri (MS) Bold"/>
                <a:cs typeface="Calibri (MS) Bold"/>
                <a:hlinkClick r:id="rIdDeckLink7"/>
              </a:rPr>
              <a:t>Code overview</a:t>
            </a:r>
          </a:p>
        </p:txBody>
      </p:sp>
      <p:sp>
        <p:nvSpPr>
          <p:cNvPr id="30" name="ingest-url">
            <a:extLst>
              <a:ext uri="{FF2B5EF4-FFF2-40B4-BE49-F238E27FC236}">
                <ns2:creationId id="{43644EC4-C34C-4D4B-B7B3-11AF7F29BEF7}"/>
              </a:ext>
            </a:extLst>
            <a:hlinkClick r:id="rIdDeckLink8"/>
          </p:cNvPr>
          <p:cNvSpPr>
            <a:spLocks noGrp="1"/>
          </p:cNvSpPr>
          <p:nvPr/>
        </p:nvSpPr>
        <p:spPr>
          <a:xfrm>
            <a:off x="12668250" y="9610725"/>
            <a:ext cx="4429125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25D57"/>
                </a:solidFill>
                <a:latin typeface="Calibri (MS)"/>
                <a:ea typeface="Calibri (MS)"/>
                <a:cs typeface="Calibri (MS)"/>
              </a:defRPr>
            </a:pPr>
            <a:r>
              <a:rPr sz="1725" b="0">
                <a:solidFill>
                  <a:srgbClr val="625D57"/>
                </a:solidFill>
                <a:latin typeface="Calibri (MS)"/>
                <a:ea typeface="Calibri (MS)"/>
                <a:cs typeface="Calibri (MS)"/>
                <a:hlinkClick r:id="rIdDeckLink8"/>
              </a:rPr>
              <a:t>gitingest.com/joannapreethi28/icc-26</a:t>
            </a:r>
          </a:p>
        </p:txBody>
      </p:sp>
      <p:sp>
        <p:nvSpPr>
          <p:cNvPr id="31" name="page-number">
            <a:extLst>
              <a:ext uri="{FF2B5EF4-FFF2-40B4-BE49-F238E27FC236}">
                <ns2:creationId id="{C0E86F9E-EFF9-43D7-8F34-CCE28528C7B7}"/>
              </a:ext>
            </a:extLst>
          </p:cNvPr>
          <p:cNvSpPr>
            <a:spLocks noGrp="1"/>
          </p:cNvSpPr>
          <p:nvPr/>
        </p:nvSpPr>
        <p:spPr>
          <a:xfrm>
            <a:off x="16954500" y="9582150"/>
            <a:ext cx="61912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2100" b="0">
                <a:solidFill>
                  <a:srgbClr val="866B50"/>
                </a:solidFill>
                <a:latin typeface="Calibri (MS)"/>
                <a:ea typeface="Calibri (MS)"/>
                <a:cs typeface="Calibri (MS)"/>
              </a:defRPr>
            </a:pPr>
            <a:r>
              <a:rPr sz="2100" b="0">
                <a:solidFill>
                  <a:srgbClr val="866B50"/>
                </a:solidFill>
                <a:latin typeface="Calibri (MS)"/>
                <a:ea typeface="Calibri (MS)"/>
                <a:cs typeface="Calibri (MS)"/>
              </a:rPr>
              <a:t>01</a:t>
            </a:r>
          </a:p>
        </p:txBody>
      </p:sp>
    </p:spTree>
    <p:extLst>
      <p:ext uri="{BB962C8B-B14F-4D97-AF65-F5344CB8AC3E}">
        <ns4:creationId val="1844459195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3" name="Freeform 3">
            <a:extLst>
              <a:ext uri="{FF2B5EF4-FFF2-40B4-BE49-F238E27FC236}">
                <ns2:creationId id="{5A00D9DE-D63E-4521-A231-E946958F01A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-10896857" y="-3247274"/>
            <a:ext cx="13080471" cy="13080471"/>
          </a:xfrm>
          <a:custGeom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>
            <a:srgbClr val="866B50"/>
          </a:solidFill>
        </p:spPr>
      </p:sp>
      <p:sp>
        <p:nvSpPr>
          <p:cNvPr id="6" name="Freeform 6">
            <a:extLst>
              <a:ext uri="{FF2B5EF4-FFF2-40B4-BE49-F238E27FC236}">
                <ns2:creationId id="{F60B1499-AEAC-4FFF-A838-2C0D1E20458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7430750" y="-3248025"/>
            <a:ext cx="13077825" cy="13077825"/>
          </a:xfrm>
          <a:custGeom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>
            <a:srgbClr val="866B50"/>
          </a:solidFill>
        </p:spPr>
      </p:sp>
      <p:sp>
        <p:nvSpPr>
          <p:cNvPr id="9" name="Freeform 9">
            <a:extLst>
              <a:ext uri="{FF2B5EF4-FFF2-40B4-BE49-F238E27FC236}">
                <ns2:creationId id="{3F05E0F9-6E58-4CB4-AF97-395CA27D4FC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-9115233" y="-742898"/>
            <a:ext cx="10576095" cy="10576095"/>
          </a:xfrm>
          <a:custGeom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>
            <a:srgbClr val="44392D"/>
          </a:solidFill>
        </p:spPr>
      </p:sp>
      <p:sp>
        <p:nvSpPr>
          <p:cNvPr id="12" name="Freeform 12">
            <a:extLst>
              <a:ext uri="{FF2B5EF4-FFF2-40B4-BE49-F238E27FC236}">
                <ns2:creationId id="{06B647A6-342A-40AC-95E6-6880F97C331A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7907000" y="-742950"/>
            <a:ext cx="10572750" cy="10572750"/>
          </a:xfrm>
          <a:custGeom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>
            <a:srgbClr val="44392D"/>
          </a:solidFill>
        </p:spPr>
      </p:sp>
      <p:sp>
        <p:nvSpPr>
          <p:cNvPr id="13" name="title">
            <a:extLst>
              <a:ext uri="{FF2B5EF4-FFF2-40B4-BE49-F238E27FC236}">
                <ns2:creationId id="{AFB1789D-CBD1-497E-A9E5-71DE1E625334}"/>
              </a:ext>
            </a:extLst>
          </p:cNvPr>
          <p:cNvSpPr>
            <a:spLocks noGrp="1"/>
          </p:cNvSpPr>
          <p:nvPr/>
        </p:nvSpPr>
        <p:spPr>
          <a:xfrm>
            <a:off x="2381250" y="828675"/>
            <a:ext cx="1428750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525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525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rPr>
              <a:t>Gender fairness through sourced answers</a:t>
            </a:r>
          </a:p>
        </p:txBody>
      </p:sp>
      <p:sp>
        <p:nvSpPr>
          <p:cNvPr id="14" name="evidence-explanation">
            <a:extLst>
              <a:ext uri="{FF2B5EF4-FFF2-40B4-BE49-F238E27FC236}">
                <ns2:creationId id="{EE82298F-60FA-4D13-9D6A-278500A1A161}"/>
              </a:ext>
            </a:extLst>
          </p:cNvPr>
          <p:cNvSpPr>
            <a:spLocks noGrp="1"/>
          </p:cNvSpPr>
          <p:nvPr/>
        </p:nvSpPr>
        <p:spPr>
          <a:xfrm>
            <a:off x="2381250" y="2019300"/>
            <a:ext cx="143827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850" b="0">
                <a:solidFill>
                  <a:srgbClr val="44392D"/>
                </a:solidFill>
                <a:latin typeface="Calibri (MS)"/>
                <a:ea typeface="Calibri (MS)"/>
                <a:cs typeface="Calibri (MS)"/>
              </a:defRPr>
            </a:pPr>
            <a:r>
              <a:rPr sz="2850" b="0">
                <a:solidFill>
                  <a:srgbClr val="44392D"/>
                </a:solidFill>
                <a:latin typeface="Calibri (MS)"/>
                <a:ea typeface="Calibri (MS)"/>
                <a:cs typeface="Calibri (MS)"/>
              </a:rPr>
              <a:t>ChatGPT mentions women, but gives no women’s total or current leader.</a:t>
            </a:r>
          </a:p>
        </p:txBody>
      </p:sp>
      <p:sp>
        <p:nvSpPr>
          <p:cNvPr id="15" name="capture-caption">
            <a:extLst>
              <a:ext uri="{FF2B5EF4-FFF2-40B4-BE49-F238E27FC236}">
                <ns2:creationId id="{7CD92481-4BC9-4CFD-92AB-88931EBD74F5}"/>
              </a:ext>
            </a:extLst>
          </p:cNvPr>
          <p:cNvSpPr>
            <a:spLocks noGrp="1"/>
          </p:cNvSpPr>
          <p:nvPr/>
        </p:nvSpPr>
        <p:spPr>
          <a:xfrm>
            <a:off x="2381250" y="2800350"/>
            <a:ext cx="1428750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75" b="1">
                <a:solidFill>
                  <a:srgbClr val="866B50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2175" b="1">
                <a:solidFill>
                  <a:srgbClr val="866B50"/>
                </a:solidFill>
                <a:latin typeface="Calibri (MS) Bold"/>
                <a:ea typeface="Calibri (MS) Bold"/>
                <a:cs typeface="Calibri (MS) Bold"/>
              </a:rPr>
              <a:t>CHATGPT: MAGNIFIED ANSWER EXCERPT</a:t>
            </a:r>
          </a:p>
        </p:txBody>
      </p:sp>
      <p:sp>
        <p:nvSpPr>
          <p:cNvPr id="17" name="Magnified unchanged ChatGPT answer excerpt, including the acknowledgement of women and Suzie Bates.">
            <a:extLst>
              <a:ext uri="{FF2B5EF4-FFF2-40B4-BE49-F238E27FC236}">
                <ns2:creationId id="{D10C4501-FDC7-4708-B8F2-F2DB0ABEDBBC}"/>
              </a:ext>
            </a:extLst>
          </p:cNvPr>
          <p:cNvSpPr>
            <a:spLocks noGrp="1"/>
          </p:cNvSpPr>
          <p:nvPr/>
        </p:nvSpPr>
        <p:spPr>
          <a:xfrm>
            <a:off x="2381250" y="3333750"/>
            <a:ext cx="14287500" cy="1794912"/>
          </a:xfrm>
          <a:prstGeom prst="rect">
            <a:avLst/>
          </a:prstGeom>
          <a:blipFill>
            <a:blip r:embed="Re420d36f1f2849cb"/>
            <a:srcRect l="26082" t="62384" r="22014" b="26063"/>
            <a:stretch>
              <a:fillRect l="0" t="0" r="0" b="0"/>
            </a:stretch>
          </a:blipFill>
          <a:ln w="0">
            <a:noFill/>
          </a:ln>
        </p:spPr>
      </p:sp>
      <p:sp>
        <p:nvSpPr>
          <p:cNvPr id="18" name="answer-label">
            <a:extLst>
              <a:ext uri="{FF2B5EF4-FFF2-40B4-BE49-F238E27FC236}">
                <ns2:creationId id="{427E5314-27E5-4EC3-B62B-EDB151626793}"/>
              </a:ext>
            </a:extLst>
          </p:cNvPr>
          <p:cNvSpPr>
            <a:spLocks noGrp="1"/>
          </p:cNvSpPr>
          <p:nvPr/>
        </p:nvSpPr>
        <p:spPr>
          <a:xfrm>
            <a:off x="2381250" y="5600700"/>
            <a:ext cx="1428750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30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330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rPr>
              <a:t>Our sourced answer</a:t>
            </a:r>
          </a:p>
        </p:txBody>
      </p:sp>
      <p:sp>
        <p:nvSpPr>
          <p:cNvPr id="19" name="women-category">
            <a:extLst>
              <a:ext uri="{FF2B5EF4-FFF2-40B4-BE49-F238E27FC236}">
                <ns2:creationId id="{3B941BB7-2578-4242-830B-E74B06750933}"/>
              </a:ext>
            </a:extLst>
          </p:cNvPr>
          <p:cNvSpPr>
            <a:spLocks noGrp="1"/>
          </p:cNvSpPr>
          <p:nvPr/>
        </p:nvSpPr>
        <p:spPr>
          <a:xfrm>
            <a:off x="3333750" y="6496050"/>
            <a:ext cx="58102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866B50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2550" b="1">
                <a:solidFill>
                  <a:srgbClr val="866B50"/>
                </a:solidFill>
                <a:latin typeface="Calibri (MS) Bold"/>
                <a:ea typeface="Calibri (MS) Bold"/>
                <a:cs typeface="Calibri (MS) Bold"/>
              </a:rPr>
              <a:t>WOMEN’S T20Is</a:t>
            </a:r>
          </a:p>
        </p:txBody>
      </p:sp>
      <p:sp>
        <p:nvSpPr>
          <p:cNvPr id="20" name="women-name">
            <a:extLst>
              <a:ext uri="{FF2B5EF4-FFF2-40B4-BE49-F238E27FC236}">
                <ns2:creationId id="{1D3C4D11-8293-40EF-83E3-56A21C5552FB}"/>
              </a:ext>
            </a:extLst>
          </p:cNvPr>
          <p:cNvSpPr>
            <a:spLocks noGrp="1"/>
          </p:cNvSpPr>
          <p:nvPr/>
        </p:nvSpPr>
        <p:spPr>
          <a:xfrm>
            <a:off x="3333750" y="7105650"/>
            <a:ext cx="581025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30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330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rPr>
              <a:t>Smriti Mandhana</a:t>
            </a:r>
          </a:p>
        </p:txBody>
      </p:sp>
      <p:sp>
        <p:nvSpPr>
          <p:cNvPr id="21" name="women-runs">
            <a:extLst>
              <a:ext uri="{FF2B5EF4-FFF2-40B4-BE49-F238E27FC236}">
                <ns2:creationId id="{974C418B-6743-488F-9E48-B40111FFC642}"/>
              </a:ext>
            </a:extLst>
          </p:cNvPr>
          <p:cNvSpPr>
            <a:spLocks noGrp="1"/>
          </p:cNvSpPr>
          <p:nvPr/>
        </p:nvSpPr>
        <p:spPr>
          <a:xfrm>
            <a:off x="3333750" y="7810500"/>
            <a:ext cx="5810250" cy="933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555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555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rPr>
              <a:t>4,867 runs</a:t>
            </a:r>
          </a:p>
        </p:txBody>
      </p:sp>
      <p:sp>
        <p:nvSpPr>
          <p:cNvPr id="22" name="women-date">
            <a:extLst>
              <a:ext uri="{FF2B5EF4-FFF2-40B4-BE49-F238E27FC236}">
                <ns2:creationId id="{84068D4D-6721-4DAE-B0B6-62EFF5063D63}"/>
              </a:ext>
            </a:extLst>
          </p:cNvPr>
          <p:cNvSpPr>
            <a:spLocks noGrp="1"/>
          </p:cNvSpPr>
          <p:nvPr/>
        </p:nvSpPr>
        <p:spPr>
          <a:xfrm>
            <a:off x="3333750" y="8810625"/>
            <a:ext cx="58102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00" b="0">
                <a:solidFill>
                  <a:srgbClr val="625D57"/>
                </a:solidFill>
                <a:latin typeface="Calibri (MS)"/>
                <a:ea typeface="Calibri (MS)"/>
                <a:cs typeface="Calibri (MS)"/>
              </a:defRPr>
            </a:pPr>
            <a:r>
              <a:rPr sz="2400" b="0">
                <a:solidFill>
                  <a:srgbClr val="625D57"/>
                </a:solidFill>
                <a:latin typeface="Calibri (MS)"/>
                <a:ea typeface="Calibri (MS)"/>
                <a:cs typeface="Calibri (MS)"/>
              </a:rPr>
              <a:t>As of 22 Sep 2026</a:t>
            </a:r>
          </a:p>
        </p:txBody>
      </p:sp>
      <p:sp>
        <p:nvSpPr>
          <p:cNvPr id="23" name="men-category">
            <a:extLst>
              <a:ext uri="{FF2B5EF4-FFF2-40B4-BE49-F238E27FC236}">
                <ns2:creationId id="{73B623A8-3BF1-4702-AF8A-67E7866B88E6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58102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866B50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2550" b="1">
                <a:solidFill>
                  <a:srgbClr val="866B50"/>
                </a:solidFill>
                <a:latin typeface="Calibri (MS) Bold"/>
                <a:ea typeface="Calibri (MS) Bold"/>
                <a:cs typeface="Calibri (MS) Bold"/>
              </a:rPr>
              <a:t>MEN’S T20Is</a:t>
            </a:r>
          </a:p>
        </p:txBody>
      </p:sp>
      <p:sp>
        <p:nvSpPr>
          <p:cNvPr id="24" name="men-name">
            <a:extLst>
              <a:ext uri="{FF2B5EF4-FFF2-40B4-BE49-F238E27FC236}">
                <ns2:creationId id="{6BD47901-BC78-48F0-B618-E4EF5F6FC72B}"/>
              </a:ext>
            </a:extLst>
          </p:cNvPr>
          <p:cNvSpPr>
            <a:spLocks noGrp="1"/>
          </p:cNvSpPr>
          <p:nvPr/>
        </p:nvSpPr>
        <p:spPr>
          <a:xfrm>
            <a:off x="10572750" y="7105650"/>
            <a:ext cx="581025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30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330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rPr>
              <a:t>Babar Azam</a:t>
            </a:r>
          </a:p>
        </p:txBody>
      </p:sp>
      <p:sp>
        <p:nvSpPr>
          <p:cNvPr id="25" name="men-runs">
            <a:extLst>
              <a:ext uri="{FF2B5EF4-FFF2-40B4-BE49-F238E27FC236}">
                <ns2:creationId id="{AA752BB2-3979-4083-98FC-43B3E69A8497}"/>
              </a:ext>
            </a:extLst>
          </p:cNvPr>
          <p:cNvSpPr>
            <a:spLocks noGrp="1"/>
          </p:cNvSpPr>
          <p:nvPr/>
        </p:nvSpPr>
        <p:spPr>
          <a:xfrm>
            <a:off x="10572750" y="7810500"/>
            <a:ext cx="5810250" cy="933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555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555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rPr>
              <a:t>4,596 runs</a:t>
            </a:r>
          </a:p>
        </p:txBody>
      </p:sp>
      <p:sp>
        <p:nvSpPr>
          <p:cNvPr id="26" name="men-date">
            <a:extLst>
              <a:ext uri="{FF2B5EF4-FFF2-40B4-BE49-F238E27FC236}">
                <ns2:creationId id="{027D0FC9-8307-4AFC-A04D-24F258ECD583}"/>
              </a:ext>
            </a:extLst>
          </p:cNvPr>
          <p:cNvSpPr>
            <a:spLocks noGrp="1"/>
          </p:cNvSpPr>
          <p:nvPr/>
        </p:nvSpPr>
        <p:spPr>
          <a:xfrm>
            <a:off x="10572750" y="8810625"/>
            <a:ext cx="58102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00" b="0">
                <a:solidFill>
                  <a:srgbClr val="625D57"/>
                </a:solidFill>
                <a:latin typeface="Calibri (MS)"/>
                <a:ea typeface="Calibri (MS)"/>
                <a:cs typeface="Calibri (MS)"/>
              </a:defRPr>
            </a:pPr>
            <a:r>
              <a:rPr sz="2400" b="0">
                <a:solidFill>
                  <a:srgbClr val="625D57"/>
                </a:solidFill>
                <a:latin typeface="Calibri (MS)"/>
                <a:ea typeface="Calibri (MS)"/>
                <a:cs typeface="Calibri (MS)"/>
              </a:rPr>
              <a:t>As of 1 Oct 2026</a:t>
            </a:r>
          </a:p>
        </p:txBody>
      </p:sp>
      <p:sp>
        <p:nvSpPr>
          <p:cNvPr id="27" name="snapshot-disclosure">
            <a:extLst>
              <a:ext uri="{FF2B5EF4-FFF2-40B4-BE49-F238E27FC236}">
                <ns2:creationId id="{13C474DC-CCA7-406A-B9EA-92358B4AFA4F}"/>
              </a:ext>
            </a:extLst>
            <a:hlinkClick r:id="rIdDeckLink3"/>
          </p:cNvPr>
          <p:cNvSpPr>
            <a:spLocks noGrp="1"/>
          </p:cNvSpPr>
          <p:nvPr/>
        </p:nvSpPr>
        <p:spPr>
          <a:xfrm>
            <a:off x="2381250" y="9572625"/>
            <a:ext cx="142875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0">
                <a:solidFill>
                  <a:srgbClr val="625D57"/>
                </a:solidFill>
                <a:latin typeface="Calibri (MS)"/>
                <a:ea typeface="Calibri (MS)"/>
                <a:cs typeface="Calibri (MS)"/>
              </a:defRPr>
            </a:pPr>
            <a:r>
              <a:rPr sz="2025" b="0">
                <a:solidFill>
                  <a:srgbClr val="625D57"/>
                </a:solidFill>
                <a:latin typeface="Calibri (MS)"/>
                <a:ea typeface="Calibri (MS)"/>
                <a:cs typeface="Calibri (MS)"/>
                <a:hlinkClick r:id="rIdDeckLink3"/>
              </a:rPr>
              <a:t>Dated record snapshots. Sources: project record database (linked).</a:t>
            </a:r>
          </a:p>
        </p:txBody>
      </p:sp>
      <p:sp>
        <p:nvSpPr>
          <p:cNvPr id="28" name="page-number">
            <a:extLst>
              <a:ext uri="{FF2B5EF4-FFF2-40B4-BE49-F238E27FC236}">
                <ns2:creationId id="{D6368422-373A-4E2C-B696-7D7F450E8256}"/>
              </a:ext>
            </a:extLst>
          </p:cNvPr>
          <p:cNvSpPr>
            <a:spLocks noGrp="1"/>
          </p:cNvSpPr>
          <p:nvPr/>
        </p:nvSpPr>
        <p:spPr>
          <a:xfrm>
            <a:off x="16954500" y="9582150"/>
            <a:ext cx="61912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2100" b="0">
                <a:solidFill>
                  <a:srgbClr val="866B50"/>
                </a:solidFill>
                <a:latin typeface="Calibri (MS)"/>
                <a:ea typeface="Calibri (MS)"/>
                <a:cs typeface="Calibri (MS)"/>
              </a:defRPr>
            </a:pPr>
            <a:r>
              <a:rPr sz="2100" b="0">
                <a:solidFill>
                  <a:srgbClr val="866B50"/>
                </a:solidFill>
                <a:latin typeface="Calibri (MS)"/>
                <a:ea typeface="Calibri (MS)"/>
                <a:cs typeface="Calibri (MS)"/>
              </a:rPr>
              <a:t>02</a:t>
            </a:r>
          </a:p>
        </p:txBody>
      </p:sp>
    </p:spTree>
    <p:extLst>
      <p:ext uri="{BB962C8B-B14F-4D97-AF65-F5344CB8AC3E}">
        <ns4:creationId val="303226125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3" name="Freeform 3">
            <a:extLst>
              <a:ext uri="{FF2B5EF4-FFF2-40B4-BE49-F238E27FC236}">
                <ns2:creationId id="{9151FC65-524B-471F-9FC6-8659DEA1C0C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-9630151" y="3768831"/>
            <a:ext cx="15097433" cy="9971538"/>
          </a:xfrm>
          <a:custGeom>
            <a:rect l="l" t="t" r="r" b="b"/>
            <a:pathLst>
              <a:path w="615311" h="406400">
                <a:moveTo>
                  <a:pt x="412111" y="0"/>
                </a:moveTo>
                <a:cubicBezTo>
                  <a:pt x="524335" y="0"/>
                  <a:pt x="615311" y="90976"/>
                  <a:pt x="615311" y="203200"/>
                </a:cubicBezTo>
                <a:cubicBezTo>
                  <a:pt x="615311" y="315424"/>
                  <a:pt x="524335" y="406400"/>
                  <a:pt x="412111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>
            <a:srgbClr val="44392D"/>
          </a:solidFill>
        </p:spPr>
      </p:sp>
      <p:sp>
        <p:nvSpPr>
          <p:cNvPr id="6" name="Freeform 6">
            <a:extLst>
              <a:ext uri="{FF2B5EF4-FFF2-40B4-BE49-F238E27FC236}">
                <ns2:creationId id="{A10BE33D-DBBA-4DD3-A63C-0B646C394E0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-11879319" y="0"/>
            <a:ext cx="15097433" cy="9971538"/>
          </a:xfrm>
          <a:custGeom>
            <a:rect l="l" t="t" r="r" b="b"/>
            <a:pathLst>
              <a:path w="615311" h="406400">
                <a:moveTo>
                  <a:pt x="412111" y="0"/>
                </a:moveTo>
                <a:cubicBezTo>
                  <a:pt x="524335" y="0"/>
                  <a:pt x="615311" y="90976"/>
                  <a:pt x="615311" y="203200"/>
                </a:cubicBezTo>
                <a:cubicBezTo>
                  <a:pt x="615311" y="315424"/>
                  <a:pt x="524335" y="406400"/>
                  <a:pt x="412111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>
            <a:srgbClr val="866B50"/>
          </a:solidFill>
        </p:spPr>
      </p:sp>
      <p:sp>
        <p:nvSpPr>
          <p:cNvPr id="8" name="Freeform 8">
            <a:extLst>
              <a:ext uri="{FF2B5EF4-FFF2-40B4-BE49-F238E27FC236}">
                <ns2:creationId id="{52F79FE9-DBCF-46DE-B480-E4AB1E288044}"/>
              </a:ext>
            </a:extLst>
          </p:cNvPr>
          <p:cNvSpPr>
            <a:spLocks noGrp="1"/>
          </p:cNvSpPr>
          <p:nvPr/>
        </p:nvSpPr>
        <p:spPr>
          <a:xfrm rot="0" flipH="0" flipV="0">
            <a:off x="-322323" y="1028700"/>
            <a:ext cx="8229600" cy="8229600"/>
          </a:xfrm>
          <a:custGeom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06afb813c60b444c"/>
            <a:stretch>
              <a:fillRect l="0" t="0" r="0" b="0"/>
            </a:stretch>
          </a:blipFill>
        </p:spPr>
      </p:sp>
      <p:sp>
        <p:nvSpPr>
          <p:cNvPr id="10" name="Freeform 10">
            <a:extLst>
              <a:ext uri="{FF2B5EF4-FFF2-40B4-BE49-F238E27FC236}">
                <ns2:creationId id="{383B65D0-EBFF-4C9E-BBEE-5CE1D517F7F5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42923" y="1779738"/>
            <a:ext cx="6699114" cy="6727524"/>
          </a:xfrm>
          <a:custGeom>
            <a:rect l="l" t="t" r="r" b="b"/>
            <a:pathLst>
              <a:path w="1285410" h="1290862">
                <a:moveTo>
                  <a:pt x="93609" y="0"/>
                </a:moveTo>
                <a:lnTo>
                  <a:pt x="1191801" y="0"/>
                </a:lnTo>
                <a:cubicBezTo>
                  <a:pt x="1216627" y="0"/>
                  <a:pt x="1240437" y="9862"/>
                  <a:pt x="1257992" y="27417"/>
                </a:cubicBezTo>
                <a:cubicBezTo>
                  <a:pt x="1275547" y="44972"/>
                  <a:pt x="1285410" y="68782"/>
                  <a:pt x="1285410" y="93609"/>
                </a:cubicBezTo>
                <a:lnTo>
                  <a:pt x="1285410" y="1197253"/>
                </a:lnTo>
                <a:cubicBezTo>
                  <a:pt x="1285410" y="1248952"/>
                  <a:pt x="1243499" y="1290862"/>
                  <a:pt x="1191801" y="1290862"/>
                </a:cubicBezTo>
                <a:lnTo>
                  <a:pt x="93609" y="1290862"/>
                </a:lnTo>
                <a:cubicBezTo>
                  <a:pt x="41910" y="1290862"/>
                  <a:pt x="0" y="1248952"/>
                  <a:pt x="0" y="1197253"/>
                </a:cubicBezTo>
                <a:lnTo>
                  <a:pt x="0" y="93609"/>
                </a:lnTo>
                <a:cubicBezTo>
                  <a:pt x="0" y="41910"/>
                  <a:pt x="41910" y="0"/>
                  <a:pt x="93609" y="0"/>
                </a:cubicBezTo>
                <a:close/>
              </a:path>
            </a:pathLst>
          </a:custGeom>
          <a:solidFill>
            <a:srgbClr val="866B50"/>
          </a:solidFill>
          <a:ln w="104775">
            <a:solidFill>
              <a:srgbClr val="FFFFFF"/>
            </a:solidFill>
            <a:prstDash val="solid"/>
          </a:ln>
        </p:spPr>
      </p:sp>
      <p:sp>
        <p:nvSpPr>
          <p:cNvPr id="15" name="Freeform 15">
            <a:extLst>
              <a:ext uri="{FF2B5EF4-FFF2-40B4-BE49-F238E27FC236}">
                <ns2:creationId id="{8CB8433E-EAE6-45DA-98A5-761608D1C76B}"/>
              </a:ext>
            </a:extLst>
          </p:cNvPr>
          <p:cNvSpPr>
            <a:spLocks noGrp="1"/>
          </p:cNvSpPr>
          <p:nvPr/>
        </p:nvSpPr>
        <p:spPr>
          <a:xfrm rot="0" flipH="0" flipV="0">
            <a:off x="-7591859" y="-2512828"/>
            <a:ext cx="12643262" cy="2968540"/>
          </a:xfrm>
          <a:custGeom>
            <a:rect l="l" t="t" r="r" b="b"/>
            <a:pathLst>
              <a:path w="1730892" h="406400">
                <a:moveTo>
                  <a:pt x="1527692" y="0"/>
                </a:moveTo>
                <a:cubicBezTo>
                  <a:pt x="1639916" y="0"/>
                  <a:pt x="1730892" y="90976"/>
                  <a:pt x="1730892" y="203200"/>
                </a:cubicBezTo>
                <a:cubicBezTo>
                  <a:pt x="1730892" y="315424"/>
                  <a:pt x="1639916" y="406400"/>
                  <a:pt x="15276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>
            <a:srgbClr val="866B50"/>
          </a:solidFill>
        </p:spPr>
      </p:sp>
      <p:sp>
        <p:nvSpPr>
          <p:cNvPr id="18" name="Freeform 18">
            <a:extLst>
              <a:ext uri="{FF2B5EF4-FFF2-40B4-BE49-F238E27FC236}">
                <ns2:creationId id="{75447630-CFA8-4DEC-81C6-41AF307E113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-2444714" y="-2795846"/>
            <a:ext cx="5671163" cy="3251558"/>
          </a:xfrm>
          <a:custGeom>
            <a:rect l="l" t="t" r="r" b="b"/>
            <a:pathLst>
              <a:path w="708817" h="406400">
                <a:moveTo>
                  <a:pt x="505617" y="0"/>
                </a:moveTo>
                <a:cubicBezTo>
                  <a:pt x="617842" y="0"/>
                  <a:pt x="708817" y="90976"/>
                  <a:pt x="708817" y="203200"/>
                </a:cubicBezTo>
                <a:cubicBezTo>
                  <a:pt x="708817" y="315424"/>
                  <a:pt x="617842" y="406400"/>
                  <a:pt x="505617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>
            <a:srgbClr val="44392D"/>
          </a:solidFill>
        </p:spPr>
      </p:sp>
      <p:sp>
        <p:nvSpPr>
          <p:cNvPr id="19" name="title">
            <a:extLst>
              <a:ext uri="{FF2B5EF4-FFF2-40B4-BE49-F238E27FC236}">
                <ns2:creationId id="{ECBF16EF-00AE-465F-ACA8-5F78DEE19365}"/>
              </a:ext>
            </a:extLst>
          </p:cNvPr>
          <p:cNvSpPr>
            <a:spLocks noGrp="1"/>
          </p:cNvSpPr>
          <p:nvPr/>
        </p:nvSpPr>
        <p:spPr>
          <a:xfrm>
            <a:off x="7905750" y="1285875"/>
            <a:ext cx="9525000" cy="1695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525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525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rPr>
              <a:t>Technical feasibility</a:t>
            </a:r>
          </a:p>
          <a:p>
            <a:pPr algn="l">
              <a:defRPr sz="525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525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rPr>
              <a:t>&amp; ease of integration</a:t>
            </a:r>
          </a:p>
        </p:txBody>
      </p:sp>
      <p:sp>
        <p:nvSpPr>
          <p:cNvPr id="20" name="laya-name">
            <a:extLst>
              <a:ext uri="{FF2B5EF4-FFF2-40B4-BE49-F238E27FC236}">
                <ns2:creationId id="{55A3E1C5-56D3-4C55-9AD6-8628F4D9BFD5}"/>
              </a:ext>
            </a:extLst>
          </p:cNvPr>
          <p:cNvSpPr>
            <a:spLocks noGrp="1"/>
          </p:cNvSpPr>
          <p:nvPr/>
        </p:nvSpPr>
        <p:spPr>
          <a:xfrm>
            <a:off x="1428750" y="2762250"/>
            <a:ext cx="5048250" cy="1057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66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66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</a:rPr>
              <a:t>Laya</a:t>
            </a:r>
          </a:p>
        </p:txBody>
      </p:sp>
      <p:sp>
        <p:nvSpPr>
          <p:cNvPr id="21" name="laya-size">
            <a:extLst>
              <a:ext uri="{FF2B5EF4-FFF2-40B4-BE49-F238E27FC236}">
                <ns2:creationId id="{71512871-947A-44CA-BA5C-006242C5A351}"/>
              </a:ext>
            </a:extLst>
          </p:cNvPr>
          <p:cNvSpPr>
            <a:spLocks noGrp="1"/>
          </p:cNvSpPr>
          <p:nvPr/>
        </p:nvSpPr>
        <p:spPr>
          <a:xfrm>
            <a:off x="1428750" y="3924300"/>
            <a:ext cx="5143500" cy="1447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6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96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</a:rPr>
              <a:t>322M</a:t>
            </a:r>
          </a:p>
        </p:txBody>
      </p:sp>
      <p:sp>
        <p:nvSpPr>
          <p:cNvPr id="22" name="laya-descriptor">
            <a:extLst>
              <a:ext uri="{FF2B5EF4-FFF2-40B4-BE49-F238E27FC236}">
                <ns2:creationId id="{F6870BFD-ED49-44BF-B671-A17A24F587B3}"/>
              </a:ext>
            </a:extLst>
          </p:cNvPr>
          <p:cNvSpPr>
            <a:spLocks noGrp="1"/>
          </p:cNvSpPr>
          <p:nvPr/>
        </p:nvSpPr>
        <p:spPr>
          <a:xfrm>
            <a:off x="1466850" y="5429250"/>
            <a:ext cx="50482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225" b="0">
                <a:solidFill>
                  <a:srgbClr val="FFFFFF"/>
                </a:solidFill>
                <a:latin typeface="Calibri (MS)"/>
                <a:ea typeface="Calibri (MS)"/>
                <a:cs typeface="Calibri (MS)"/>
              </a:defRPr>
            </a:pPr>
            <a:r>
              <a:rPr sz="3225" b="0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parameters</a:t>
            </a:r>
          </a:p>
        </p:txBody>
      </p:sp>
      <p:sp>
        <p:nvSpPr>
          <p:cNvPr id="23" name="laya-benefit">
            <a:extLst>
              <a:ext uri="{FF2B5EF4-FFF2-40B4-BE49-F238E27FC236}">
                <ns2:creationId id="{31498EEE-546D-49C0-AC1C-79367A3271A1}"/>
              </a:ext>
            </a:extLst>
          </p:cNvPr>
          <p:cNvSpPr>
            <a:spLocks noGrp="1"/>
          </p:cNvSpPr>
          <p:nvPr/>
        </p:nvSpPr>
        <p:spPr>
          <a:xfrm>
            <a:off x="1428750" y="6553200"/>
            <a:ext cx="5000625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300" b="0">
                <a:solidFill>
                  <a:srgbClr val="FFFFFF"/>
                </a:solidFill>
                <a:latin typeface="Calibri (MS)"/>
                <a:ea typeface="Calibri (MS)"/>
                <a:cs typeface="Calibri (MS)"/>
              </a:defRPr>
            </a:pPr>
            <a:r>
              <a:rPr sz="3300" b="0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Open model.</a:t>
            </a:r>
          </a:p>
          <a:p>
            <a:pPr algn="l">
              <a:defRPr sz="3300" b="0">
                <a:solidFill>
                  <a:srgbClr val="FFFFFF"/>
                </a:solidFill>
                <a:latin typeface="Calibri (MS)"/>
                <a:ea typeface="Calibri (MS)"/>
                <a:cs typeface="Calibri (MS)"/>
              </a:defRPr>
            </a:pPr>
            <a:r>
              <a:rPr sz="3300" b="0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CPU inference.</a:t>
            </a:r>
          </a:p>
        </p:txBody>
      </p:sp>
      <p:sp>
        <p:nvSpPr>
          <p:cNvPr id="24" name="stage1-title">
            <a:extLst>
              <a:ext uri="{FF2B5EF4-FFF2-40B4-BE49-F238E27FC236}">
                <ns2:creationId id="{A997683B-122F-4E61-AE35-01F0818561B7}"/>
              </a:ext>
            </a:extLst>
          </p:cNvPr>
          <p:cNvSpPr>
            <a:spLocks noGrp="1"/>
          </p:cNvSpPr>
          <p:nvPr/>
        </p:nvSpPr>
        <p:spPr>
          <a:xfrm>
            <a:off x="7905750" y="3371850"/>
            <a:ext cx="9048750" cy="561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45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345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rPr>
              <a:t>Trained multilingual AI</a:t>
            </a:r>
          </a:p>
        </p:txBody>
      </p:sp>
      <p:sp>
        <p:nvSpPr>
          <p:cNvPr id="25" name="stage1-body">
            <a:extLst>
              <a:ext uri="{FF2B5EF4-FFF2-40B4-BE49-F238E27FC236}">
                <ns2:creationId id="{9867A1F4-FA55-4327-A795-2635274A4A3B}"/>
              </a:ext>
            </a:extLst>
          </p:cNvPr>
          <p:cNvSpPr>
            <a:spLocks noGrp="1"/>
          </p:cNvSpPr>
          <p:nvPr/>
        </p:nvSpPr>
        <p:spPr>
          <a:xfrm>
            <a:off x="7905750" y="3990975"/>
            <a:ext cx="8810625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925" b="0">
                <a:solidFill>
                  <a:srgbClr val="44392D"/>
                </a:solidFill>
                <a:latin typeface="Calibri (MS)"/>
                <a:ea typeface="Calibri (MS)"/>
                <a:cs typeface="Calibri (MS)"/>
              </a:defRPr>
            </a:pPr>
            <a:r>
              <a:rPr sz="2925" b="0">
                <a:solidFill>
                  <a:srgbClr val="44392D"/>
                </a:solidFill>
                <a:latin typeface="Calibri (MS)"/>
                <a:ea typeface="Calibri (MS)"/>
                <a:cs typeface="Calibri (MS)"/>
              </a:rPr>
              <a:t>Laya interprets the question, supported by rules.</a:t>
            </a:r>
          </a:p>
        </p:txBody>
      </p:sp>
      <p:sp>
        <p:nvSpPr>
          <p:cNvPr id="26" name="stage2-title">
            <a:extLst>
              <a:ext uri="{FF2B5EF4-FFF2-40B4-BE49-F238E27FC236}">
                <ns2:creationId id="{4E8AAAC8-50F6-4B87-ACFE-53B70DB8FC5C}"/>
              </a:ext>
            </a:extLst>
          </p:cNvPr>
          <p:cNvSpPr>
            <a:spLocks noGrp="1"/>
          </p:cNvSpPr>
          <p:nvPr/>
        </p:nvSpPr>
        <p:spPr>
          <a:xfrm>
            <a:off x="7905750" y="5172075"/>
            <a:ext cx="9239250" cy="5810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225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3225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rPr>
              <a:t>Explainable policy and verified data</a:t>
            </a:r>
          </a:p>
        </p:txBody>
      </p:sp>
      <p:sp>
        <p:nvSpPr>
          <p:cNvPr id="27" name="stage2-body">
            <a:extLst>
              <a:ext uri="{FF2B5EF4-FFF2-40B4-BE49-F238E27FC236}">
                <ns2:creationId id="{2B4D2D1F-D22F-4581-A04F-8EE0C0311769}"/>
              </a:ext>
            </a:extLst>
          </p:cNvPr>
          <p:cNvSpPr>
            <a:spLocks noGrp="1"/>
          </p:cNvSpPr>
          <p:nvPr/>
        </p:nvSpPr>
        <p:spPr>
          <a:xfrm>
            <a:off x="7905750" y="5791200"/>
            <a:ext cx="9048750" cy="1028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925" b="0">
                <a:solidFill>
                  <a:srgbClr val="44392D"/>
                </a:solidFill>
                <a:latin typeface="Calibri (MS)"/>
                <a:ea typeface="Calibri (MS)"/>
                <a:cs typeface="Calibri (MS)"/>
              </a:defRPr>
            </a:pPr>
            <a:r>
              <a:rPr sz="2925" b="0">
                <a:solidFill>
                  <a:srgbClr val="44392D"/>
                </a:solidFill>
                <a:latin typeface="Calibri (MS)"/>
                <a:ea typeface="Calibri (MS)"/>
                <a:cs typeface="Calibri (MS)"/>
              </a:rPr>
              <a:t>Neutral, supported questions receive both.</a:t>
            </a:r>
          </a:p>
          <a:p>
            <a:pPr algn="l">
              <a:defRPr sz="2925" b="0">
                <a:solidFill>
                  <a:srgbClr val="44392D"/>
                </a:solidFill>
                <a:latin typeface="Calibri (MS)"/>
                <a:ea typeface="Calibri (MS)"/>
                <a:cs typeface="Calibri (MS)"/>
              </a:defRPr>
            </a:pPr>
            <a:r>
              <a:rPr sz="2925" b="0">
                <a:solidFill>
                  <a:srgbClr val="44392D"/>
                </a:solidFill>
                <a:latin typeface="Calibri (MS)"/>
                <a:ea typeface="Calibri (MS)"/>
                <a:cs typeface="Calibri (MS)"/>
              </a:rPr>
              <a:t>The database supplies sourced, dated facts.</a:t>
            </a:r>
          </a:p>
        </p:txBody>
      </p:sp>
      <p:sp>
        <p:nvSpPr>
          <p:cNvPr id="28" name="stage3-title">
            <a:extLst>
              <a:ext uri="{FF2B5EF4-FFF2-40B4-BE49-F238E27FC236}">
                <ns2:creationId id="{CF8A8887-DED8-47F4-BEC9-96A7D47F1DCE}"/>
              </a:ext>
            </a:extLst>
          </p:cNvPr>
          <p:cNvSpPr>
            <a:spLocks noGrp="1"/>
          </p:cNvSpPr>
          <p:nvPr/>
        </p:nvSpPr>
        <p:spPr>
          <a:xfrm>
            <a:off x="7905750" y="7000875"/>
            <a:ext cx="9286875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45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345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rPr>
              <a:t>MCP server + REST API</a:t>
            </a:r>
          </a:p>
        </p:txBody>
      </p:sp>
      <p:sp>
        <p:nvSpPr>
          <p:cNvPr id="29" name="stage3-body">
            <a:extLst>
              <a:ext uri="{FF2B5EF4-FFF2-40B4-BE49-F238E27FC236}">
                <ns2:creationId id="{66463705-8B5C-41FD-A8BA-B54373EB0C8D}"/>
              </a:ext>
            </a:extLst>
          </p:cNvPr>
          <p:cNvSpPr>
            <a:spLocks noGrp="1"/>
          </p:cNvSpPr>
          <p:nvPr/>
        </p:nvSpPr>
        <p:spPr>
          <a:xfrm>
            <a:off x="7905750" y="7639050"/>
            <a:ext cx="9144000" cy="1019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925" b="0">
                <a:solidFill>
                  <a:srgbClr val="44392D"/>
                </a:solidFill>
                <a:latin typeface="Calibri (MS)"/>
                <a:ea typeface="Calibri (MS)"/>
                <a:cs typeface="Calibri (MS)"/>
              </a:defRPr>
            </a:pPr>
            <a:r>
              <a:rPr sz="2925" b="0">
                <a:solidFill>
                  <a:srgbClr val="44392D"/>
                </a:solidFill>
                <a:latin typeface="Calibri (MS)"/>
                <a:ea typeface="Calibri (MS)"/>
                <a:cs typeface="Calibri (MS)"/>
              </a:rPr>
              <a:t>Connect compatible assistants.</a:t>
            </a:r>
          </a:p>
          <a:p>
            <a:pPr algn="l">
              <a:defRPr sz="2925" b="0">
                <a:solidFill>
                  <a:srgbClr val="44392D"/>
                </a:solidFill>
                <a:latin typeface="Calibri (MS)"/>
                <a:ea typeface="Calibri (MS)"/>
                <a:cs typeface="Calibri (MS)"/>
              </a:defRPr>
            </a:pPr>
            <a:r>
              <a:rPr sz="2925" b="0">
                <a:solidFill>
                  <a:srgbClr val="44392D"/>
                </a:solidFill>
                <a:latin typeface="Calibri (MS)"/>
                <a:ea typeface="Calibri (MS)"/>
                <a:cs typeface="Calibri (MS)"/>
              </a:rPr>
              <a:t>No retraining of the host model.</a:t>
            </a:r>
          </a:p>
        </p:txBody>
      </p:sp>
      <p:sp>
        <p:nvSpPr>
          <p:cNvPr id="30" name="languages-cost">
            <a:extLst>
              <a:ext uri="{FF2B5EF4-FFF2-40B4-BE49-F238E27FC236}">
                <ns2:creationId id="{18B5AFF8-E93F-450E-943D-7C668ED39075}"/>
              </a:ext>
            </a:extLst>
          </p:cNvPr>
          <p:cNvSpPr>
            <a:spLocks noGrp="1"/>
          </p:cNvSpPr>
          <p:nvPr/>
        </p:nvSpPr>
        <p:spPr>
          <a:xfrm>
            <a:off x="7905750" y="8934450"/>
            <a:ext cx="8858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75" b="1">
                <a:solidFill>
                  <a:srgbClr val="866B50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2475" b="1">
                <a:solidFill>
                  <a:srgbClr val="866B50"/>
                </a:solidFill>
                <a:latin typeface="Calibri (MS) Bold"/>
                <a:ea typeface="Calibri (MS) Bold"/>
                <a:cs typeface="Calibri (MS) Bold"/>
              </a:rPr>
              <a:t>English, Hindi and Tamil</a:t>
            </a:r>
          </a:p>
        </p:txBody>
      </p:sp>
      <p:sp>
        <p:nvSpPr>
          <p:cNvPr id="31" name="scope-limit">
            <a:extLst>
              <a:ext uri="{FF2B5EF4-FFF2-40B4-BE49-F238E27FC236}">
                <ns2:creationId id="{16C6E3B2-CEFE-49BF-A507-209C47DA046A}"/>
              </a:ext>
            </a:extLst>
            <a:hlinkClick r:id="rIdDeckLink3"/>
          </p:cNvPr>
          <p:cNvSpPr>
            <a:spLocks noGrp="1"/>
          </p:cNvSpPr>
          <p:nvPr/>
        </p:nvSpPr>
        <p:spPr>
          <a:xfrm>
            <a:off x="7905750" y="9467850"/>
            <a:ext cx="885825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625D57"/>
                </a:solidFill>
                <a:latin typeface="Calibri (MS)"/>
                <a:ea typeface="Calibri (MS)"/>
                <a:cs typeface="Calibri (MS)"/>
              </a:defRPr>
            </a:pPr>
            <a:r>
              <a:rPr sz="1875" b="0">
                <a:solidFill>
                  <a:srgbClr val="625D57"/>
                </a:solidFill>
                <a:latin typeface="Calibri (MS)"/>
                <a:ea typeface="Calibri (MS)"/>
                <a:cs typeface="Calibri (MS)"/>
                <a:hlinkClick r:id="rIdDeckLink3"/>
              </a:rPr>
              <a:t>Local integration. Coverage and language validation remain limited.</a:t>
            </a:r>
          </a:p>
        </p:txBody>
      </p:sp>
      <p:sp>
        <p:nvSpPr>
          <p:cNvPr id="32" name="page-number">
            <a:extLst>
              <a:ext uri="{FF2B5EF4-FFF2-40B4-BE49-F238E27FC236}">
                <ns2:creationId id="{0294F0A2-0EF4-4B4E-AB30-E42B9D4AE015}"/>
              </a:ext>
            </a:extLst>
          </p:cNvPr>
          <p:cNvSpPr>
            <a:spLocks noGrp="1"/>
          </p:cNvSpPr>
          <p:nvPr/>
        </p:nvSpPr>
        <p:spPr>
          <a:xfrm>
            <a:off x="16954500" y="9582150"/>
            <a:ext cx="61912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2100" b="0">
                <a:solidFill>
                  <a:srgbClr val="866B50"/>
                </a:solidFill>
                <a:latin typeface="Calibri (MS)"/>
                <a:ea typeface="Calibri (MS)"/>
                <a:cs typeface="Calibri (MS)"/>
              </a:defRPr>
            </a:pPr>
            <a:r>
              <a:rPr sz="2100" b="0">
                <a:solidFill>
                  <a:srgbClr val="866B50"/>
                </a:solidFill>
                <a:latin typeface="Calibri (MS)"/>
                <a:ea typeface="Calibri (MS)"/>
                <a:cs typeface="Calibri (MS)"/>
              </a:rPr>
              <a:t>03</a:t>
            </a:r>
          </a:p>
        </p:txBody>
      </p:sp>
    </p:spTree>
    <p:extLst>
      <p:ext uri="{BB962C8B-B14F-4D97-AF65-F5344CB8AC3E}">
        <ns4:creationId val="1583989036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3" name="Freeform 3">
            <a:extLst>
              <a:ext uri="{FF2B5EF4-FFF2-40B4-BE49-F238E27FC236}">
                <ns2:creationId id="{5A00D9DE-D63E-4521-A231-E946958F01A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-10896857" y="-3247274"/>
            <a:ext cx="13080471" cy="13080471"/>
          </a:xfrm>
          <a:custGeom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>
            <a:srgbClr val="866B50"/>
          </a:solidFill>
        </p:spPr>
      </p:sp>
      <p:sp>
        <p:nvSpPr>
          <p:cNvPr id="6" name="Freeform 6">
            <a:extLst>
              <a:ext uri="{FF2B5EF4-FFF2-40B4-BE49-F238E27FC236}">
                <ns2:creationId id="{F60B1499-AEAC-4FFF-A838-2C0D1E20458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6104385" y="-3247274"/>
            <a:ext cx="13080471" cy="13080471"/>
          </a:xfrm>
          <a:custGeom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>
            <a:srgbClr val="866B50"/>
          </a:solidFill>
        </p:spPr>
      </p:sp>
      <p:sp>
        <p:nvSpPr>
          <p:cNvPr id="9" name="Freeform 9">
            <a:extLst>
              <a:ext uri="{FF2B5EF4-FFF2-40B4-BE49-F238E27FC236}">
                <ns2:creationId id="{3F05E0F9-6E58-4CB4-AF97-395CA27D4FC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-9115233" y="-742898"/>
            <a:ext cx="10576095" cy="10576095"/>
          </a:xfrm>
          <a:custGeom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>
            <a:srgbClr val="44392D"/>
          </a:solidFill>
        </p:spPr>
      </p:sp>
      <p:sp>
        <p:nvSpPr>
          <p:cNvPr id="12" name="Freeform 12">
            <a:extLst>
              <a:ext uri="{FF2B5EF4-FFF2-40B4-BE49-F238E27FC236}">
                <ns2:creationId id="{06B647A6-342A-40AC-95E6-6880F97C331A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6827137" y="-742898"/>
            <a:ext cx="10576095" cy="10576095"/>
          </a:xfrm>
          <a:custGeom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>
            <a:srgbClr val="44392D"/>
          </a:solidFill>
        </p:spPr>
      </p:sp>
      <p:sp>
        <p:nvSpPr>
          <p:cNvPr id="13" name="title">
            <a:extLst>
              <a:ext uri="{FF2B5EF4-FFF2-40B4-BE49-F238E27FC236}">
                <ns2:creationId id="{A4E6DE18-FFBD-4F3A-9AEA-FC05F514084A}"/>
              </a:ext>
            </a:extLst>
          </p:cNvPr>
          <p:cNvSpPr>
            <a:spLocks noGrp="1"/>
          </p:cNvSpPr>
          <p:nvPr/>
        </p:nvSpPr>
        <p:spPr>
          <a:xfrm>
            <a:off x="2667000" y="666750"/>
            <a:ext cx="1314450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600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600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rPr>
              <a:t>Impact on Women in Sport</a:t>
            </a:r>
          </a:p>
        </p:txBody>
      </p:sp>
      <p:sp>
        <p:nvSpPr>
          <p:cNvPr id="14" name="metric-label">
            <a:extLst>
              <a:ext uri="{FF2B5EF4-FFF2-40B4-BE49-F238E27FC236}">
                <ns2:creationId id="{40F95A4E-2A0B-4F38-A807-E43D85729068}"/>
              </a:ext>
            </a:extLst>
          </p:cNvPr>
          <p:cNvSpPr>
            <a:spLocks noGrp="1"/>
          </p:cNvSpPr>
          <p:nvPr/>
        </p:nvSpPr>
        <p:spPr>
          <a:xfrm>
            <a:off x="2762250" y="1924050"/>
            <a:ext cx="130492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150" b="0">
                <a:solidFill>
                  <a:srgbClr val="44392D"/>
                </a:solidFill>
                <a:latin typeface="Calibri (MS)"/>
                <a:ea typeface="Calibri (MS)"/>
                <a:cs typeface="Calibri (MS)"/>
              </a:defRPr>
            </a:pPr>
            <a:r>
              <a:rPr sz="3150" b="0">
                <a:solidFill>
                  <a:srgbClr val="44392D"/>
                </a:solidFill>
                <a:latin typeface="Calibri (MS)"/>
                <a:ea typeface="Calibri (MS)"/>
                <a:cs typeface="Calibri (MS)"/>
              </a:rPr>
              <a:t>Women’s Visibility Rate: answers containing a women’s record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="2714625" y="2762250"/>
          <a:ext cx="12763500" cy="4000500"/>
        </p:xfrm>
        <a:graphic>
          <a:graphicData uri="http://schemas.openxmlformats.org/drawingml/2006/chart">
            <ns3:chart r:id="Refd19bd229e14fc6"/>
          </a:graphicData>
        </a:graphic>
      </p:graphicFrame>
      <p:sp>
        <p:nvSpPr>
          <p:cNvPr id="16" name="lift">
            <a:extLst>
              <a:ext uri="{FF2B5EF4-FFF2-40B4-BE49-F238E27FC236}">
                <ns2:creationId id="{C4C08455-13EA-452C-B663-98401CC2977F}"/>
              </a:ext>
            </a:extLst>
          </p:cNvPr>
          <p:cNvSpPr>
            <a:spLocks noGrp="1"/>
          </p:cNvSpPr>
          <p:nvPr/>
        </p:nvSpPr>
        <p:spPr>
          <a:xfrm>
            <a:off x="2762250" y="6743700"/>
            <a:ext cx="1323975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555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555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rPr>
              <a:t>+41.8 percentage points</a:t>
            </a:r>
          </a:p>
        </p:txBody>
      </p:sp>
      <p:sp>
        <p:nvSpPr>
          <p:cNvPr id="17" name="lift-context">
            <a:extLst>
              <a:ext uri="{FF2B5EF4-FFF2-40B4-BE49-F238E27FC236}">
                <ns2:creationId id="{63D96E21-5E76-41DE-B38F-9933F512D7C1}"/>
              </a:ext>
            </a:extLst>
            <a:hlinkClick r:id="rIdDeckLink3"/>
          </p:cNvPr>
          <p:cNvSpPr>
            <a:spLocks noGrp="1"/>
          </p:cNvSpPr>
          <p:nvPr/>
        </p:nvSpPr>
        <p:spPr>
          <a:xfrm>
            <a:off x="2781300" y="7658100"/>
            <a:ext cx="1323975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700" b="0">
                <a:solidFill>
                  <a:srgbClr val="625D57"/>
                </a:solidFill>
                <a:latin typeface="Calibri (MS)"/>
                <a:ea typeface="Calibri (MS)"/>
                <a:cs typeface="Calibri (MS)"/>
              </a:defRPr>
            </a:pPr>
            <a:r>
              <a:rPr sz="2700" b="0">
                <a:solidFill>
                  <a:srgbClr val="625D57"/>
                </a:solidFill>
                <a:latin typeface="Calibri (MS)"/>
                <a:ea typeface="Calibri (MS)"/>
                <a:cs typeface="Calibri (MS)"/>
                <a:hlinkClick r:id="rIdDeckLink3"/>
              </a:rPr>
              <a:t>versus the plain model. View experiment and results.</a:t>
            </a:r>
          </a:p>
        </p:txBody>
      </p:sp>
      <p:sp>
        <p:nvSpPr>
          <p:cNvPr id="18" name="experiment">
            <a:extLst>
              <a:ext uri="{FF2B5EF4-FFF2-40B4-BE49-F238E27FC236}">
                <ns2:creationId id="{019835C6-AC6C-401F-BE8B-81E9CE2D6289}"/>
              </a:ext>
            </a:extLst>
          </p:cNvPr>
          <p:cNvSpPr>
            <a:spLocks noGrp="1"/>
          </p:cNvSpPr>
          <p:nvPr/>
        </p:nvSpPr>
        <p:spPr>
          <a:xfrm>
            <a:off x="2762250" y="8239125"/>
            <a:ext cx="13096875" cy="809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0">
                <a:solidFill>
                  <a:srgbClr val="44392D"/>
                </a:solidFill>
                <a:latin typeface="Calibri (MS)"/>
                <a:ea typeface="Calibri (MS)"/>
                <a:cs typeface="Calibri (MS)"/>
              </a:defRPr>
            </a:pPr>
            <a:r>
              <a:rPr sz="2550" b="0">
                <a:solidFill>
                  <a:srgbClr val="44392D"/>
                </a:solidFill>
                <a:latin typeface="Calibri (MS)"/>
                <a:ea typeface="Calibri (MS)"/>
                <a:cs typeface="Calibri (MS)"/>
              </a:rPr>
              <a:t>Llama 3.1 8B. 106 neutral English questions.</a:t>
            </a:r>
          </a:p>
          <a:p>
            <a:pPr algn="l">
              <a:defRPr sz="2550" b="0">
                <a:solidFill>
                  <a:srgbClr val="44392D"/>
                </a:solidFill>
                <a:latin typeface="Calibri (MS)"/>
                <a:ea typeface="Calibri (MS)"/>
                <a:cs typeface="Calibri (MS)"/>
              </a:defRPr>
            </a:pPr>
            <a:r>
              <a:rPr sz="2550" b="0">
                <a:solidFill>
                  <a:srgbClr val="44392D"/>
                </a:solidFill>
                <a:latin typeface="Calibri (MS)"/>
                <a:ea typeface="Calibri (MS)"/>
                <a:cs typeface="Calibri (MS)"/>
              </a:rPr>
              <a:t>Three responses per question per condition.</a:t>
            </a:r>
          </a:p>
        </p:txBody>
      </p:sp>
      <p:sp>
        <p:nvSpPr>
          <p:cNvPr id="19" name="preliminary">
            <a:extLst>
              <a:ext uri="{FF2B5EF4-FFF2-40B4-BE49-F238E27FC236}">
                <ns2:creationId id="{E98C3340-9E36-4798-BA49-A597165937DB}"/>
              </a:ext>
            </a:extLst>
          </p:cNvPr>
          <p:cNvSpPr>
            <a:spLocks noGrp="1"/>
          </p:cNvSpPr>
          <p:nvPr/>
        </p:nvSpPr>
        <p:spPr>
          <a:xfrm>
            <a:off x="2762250" y="9144000"/>
            <a:ext cx="13096875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00" b="1">
                <a:solidFill>
                  <a:srgbClr val="866B50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2400" b="1">
                <a:solidFill>
                  <a:srgbClr val="866B50"/>
                </a:solidFill>
                <a:latin typeface="Calibri (MS) Bold"/>
                <a:ea typeface="Calibri (MS) Bold"/>
                <a:cs typeface="Calibri (MS) Bold"/>
              </a:rPr>
              <a:t>Preliminary automatic labels. Human review pending.</a:t>
            </a:r>
          </a:p>
          <a:p>
            <a:pPr algn="l">
              <a:defRPr sz="2400" b="1">
                <a:solidFill>
                  <a:srgbClr val="866B50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2400" b="1">
                <a:solidFill>
                  <a:srgbClr val="866B50"/>
                </a:solidFill>
                <a:latin typeface="Calibri (MS) Bold"/>
                <a:ea typeface="Calibri (MS) Bold"/>
                <a:cs typeface="Calibri (MS) Bold"/>
              </a:rPr>
              <a:t>Visibility measures inclusion, not factual accuracy.</a:t>
            </a:r>
          </a:p>
        </p:txBody>
      </p:sp>
      <p:sp>
        <p:nvSpPr>
          <p:cNvPr id="20" name="page-number">
            <a:extLst>
              <a:ext uri="{FF2B5EF4-FFF2-40B4-BE49-F238E27FC236}">
                <ns2:creationId id="{9C131946-5260-45E0-AED6-EE39A7B4D0E4}"/>
              </a:ext>
            </a:extLst>
          </p:cNvPr>
          <p:cNvSpPr>
            <a:spLocks noGrp="1"/>
          </p:cNvSpPr>
          <p:nvPr/>
        </p:nvSpPr>
        <p:spPr>
          <a:xfrm>
            <a:off x="16954500" y="9582150"/>
            <a:ext cx="61912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2100" b="0">
                <a:solidFill>
                  <a:srgbClr val="866B50"/>
                </a:solidFill>
                <a:latin typeface="Calibri (MS)"/>
                <a:ea typeface="Calibri (MS)"/>
                <a:cs typeface="Calibri (MS)"/>
              </a:defRPr>
            </a:pPr>
            <a:r>
              <a:rPr sz="2100" b="0">
                <a:solidFill>
                  <a:srgbClr val="866B50"/>
                </a:solidFill>
                <a:latin typeface="Calibri (MS)"/>
                <a:ea typeface="Calibri (MS)"/>
                <a:cs typeface="Calibri (MS)"/>
              </a:rPr>
              <a:t>04</a:t>
            </a:r>
          </a:p>
        </p:txBody>
      </p:sp>
    </p:spTree>
    <p:extLst>
      <p:ext uri="{BB962C8B-B14F-4D97-AF65-F5344CB8AC3E}">
        <ns5:creationId val="303226125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3" name="Freeform 3">
            <a:extLst>
              <a:ext uri="{FF2B5EF4-FFF2-40B4-BE49-F238E27FC236}">
                <ns2:creationId id="{F055065A-A5EC-456D-9BA8-2B154FEEA923}"/>
              </a:ext>
            </a:extLst>
          </p:cNvPr>
          <p:cNvSpPr>
            <a:spLocks noGrp="1"/>
          </p:cNvSpPr>
          <p:nvPr/>
        </p:nvSpPr>
        <p:spPr>
          <a:xfrm rot="0" flipH="0" flipV="0">
            <a:off x="-10477500" y="2095500"/>
            <a:ext cx="15097125" cy="9972675"/>
          </a:xfrm>
          <a:custGeom>
            <a:rect l="l" t="t" r="r" b="b"/>
            <a:pathLst>
              <a:path w="759599" h="406400">
                <a:moveTo>
                  <a:pt x="556399" y="0"/>
                </a:moveTo>
                <a:cubicBezTo>
                  <a:pt x="668623" y="0"/>
                  <a:pt x="759599" y="90976"/>
                  <a:pt x="759599" y="203200"/>
                </a:cubicBezTo>
                <a:cubicBezTo>
                  <a:pt x="759599" y="315424"/>
                  <a:pt x="668623" y="406400"/>
                  <a:pt x="55639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>
            <a:srgbClr val="866B50"/>
          </a:solidFill>
        </p:spPr>
      </p:sp>
      <p:sp>
        <p:nvSpPr>
          <p:cNvPr id="6" name="Freeform 6">
            <a:extLst>
              <a:ext uri="{FF2B5EF4-FFF2-40B4-BE49-F238E27FC236}">
                <ns2:creationId id="{7723D154-8641-40DD-9BDF-3B38AF7212BA}"/>
              </a:ext>
            </a:extLst>
          </p:cNvPr>
          <p:cNvSpPr>
            <a:spLocks noGrp="1"/>
          </p:cNvSpPr>
          <p:nvPr/>
        </p:nvSpPr>
        <p:spPr>
          <a:xfrm rot="0" flipH="0" flipV="0">
            <a:off x="-7105794" y="3591648"/>
            <a:ext cx="15097433" cy="9971538"/>
          </a:xfrm>
          <a:custGeom>
            <a:rect l="l" t="t" r="r" b="b"/>
            <a:pathLst>
              <a:path w="615311" h="406400">
                <a:moveTo>
                  <a:pt x="412111" y="0"/>
                </a:moveTo>
                <a:cubicBezTo>
                  <a:pt x="524335" y="0"/>
                  <a:pt x="615311" y="90976"/>
                  <a:pt x="615311" y="203200"/>
                </a:cubicBezTo>
                <a:cubicBezTo>
                  <a:pt x="615311" y="315424"/>
                  <a:pt x="524335" y="406400"/>
                  <a:pt x="412111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>
            <a:srgbClr val="44392D"/>
          </a:solidFill>
        </p:spPr>
      </p:sp>
      <p:sp>
        <p:nvSpPr>
          <p:cNvPr id="8" name="Freeform 8">
            <a:extLst>
              <a:ext uri="{FF2B5EF4-FFF2-40B4-BE49-F238E27FC236}">
                <ns2:creationId id="{738D3024-0CB7-4F73-8914-438AFA7AADBB}"/>
              </a:ext>
            </a:extLst>
          </p:cNvPr>
          <p:cNvSpPr>
            <a:spLocks noGrp="1"/>
          </p:cNvSpPr>
          <p:nvPr/>
        </p:nvSpPr>
        <p:spPr>
          <a:xfrm rot="0" flipH="0" flipV="0">
            <a:off x="-322323" y="1028700"/>
            <a:ext cx="8229600" cy="8229600"/>
          </a:xfrm>
          <a:custGeom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1504361a9b6d4f04"/>
            <a:stretch>
              <a:fillRect l="0" t="0" r="0" b="0"/>
            </a:stretch>
          </a:blipFill>
        </p:spPr>
      </p:sp>
      <p:sp>
        <p:nvSpPr>
          <p:cNvPr id="9" name="Freeform 9">
            <a:extLst>
              <a:ext uri="{FF2B5EF4-FFF2-40B4-BE49-F238E27FC236}">
                <ns2:creationId id="{A93D20E8-1986-407D-91B7-0897A5D47D5A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341680" y="1028700"/>
            <a:ext cx="8229600" cy="8229600"/>
          </a:xfrm>
          <a:custGeom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1504361a9b6d4f04"/>
            <a:stretch>
              <a:fillRect l="0" t="0" r="0" b="0"/>
            </a:stretch>
          </a:blipFill>
        </p:spPr>
      </p:sp>
      <p:sp>
        <p:nvSpPr>
          <p:cNvPr id="11" name="Freeform 11">
            <a:extLst>
              <a:ext uri="{FF2B5EF4-FFF2-40B4-BE49-F238E27FC236}">
                <ns2:creationId id="{378C3E8B-B06A-4F08-9F7A-D668C780243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47675" y="2000250"/>
            <a:ext cx="9591675" cy="6267450"/>
          </a:xfrm>
          <a:custGeom>
            <a:rect l="l" t="t" r="r" b="b"/>
            <a:pathLst>
              <a:path w="1840501" h="1290862">
                <a:moveTo>
                  <a:pt x="57305" y="0"/>
                </a:moveTo>
                <a:lnTo>
                  <a:pt x="1783195" y="0"/>
                </a:lnTo>
                <a:cubicBezTo>
                  <a:pt x="1814844" y="0"/>
                  <a:pt x="1840501" y="25656"/>
                  <a:pt x="1840501" y="57305"/>
                </a:cubicBezTo>
                <a:lnTo>
                  <a:pt x="1840501" y="1233556"/>
                </a:lnTo>
                <a:cubicBezTo>
                  <a:pt x="1840501" y="1248755"/>
                  <a:pt x="1834463" y="1263330"/>
                  <a:pt x="1823716" y="1274077"/>
                </a:cubicBezTo>
                <a:cubicBezTo>
                  <a:pt x="1812970" y="1284824"/>
                  <a:pt x="1798394" y="1290862"/>
                  <a:pt x="1783195" y="1290862"/>
                </a:cubicBezTo>
                <a:lnTo>
                  <a:pt x="57305" y="1290862"/>
                </a:lnTo>
                <a:cubicBezTo>
                  <a:pt x="42107" y="1290862"/>
                  <a:pt x="27531" y="1284824"/>
                  <a:pt x="16784" y="1274077"/>
                </a:cubicBezTo>
                <a:cubicBezTo>
                  <a:pt x="6038" y="1263330"/>
                  <a:pt x="0" y="1248755"/>
                  <a:pt x="0" y="1233556"/>
                </a:cubicBezTo>
                <a:lnTo>
                  <a:pt x="0" y="57305"/>
                </a:lnTo>
                <a:cubicBezTo>
                  <a:pt x="0" y="42107"/>
                  <a:pt x="6038" y="27531"/>
                  <a:pt x="16784" y="16784"/>
                </a:cubicBezTo>
                <a:cubicBezTo>
                  <a:pt x="27531" y="6038"/>
                  <a:pt x="42107" y="0"/>
                  <a:pt x="57305" y="0"/>
                </a:cubicBezTo>
                <a:close/>
              </a:path>
            </a:pathLst>
          </a:custGeom>
          <a:solidFill>
            <a:srgbClr val="866B50"/>
          </a:solidFill>
          <a:ln w="104775">
            <a:solidFill>
              <a:srgbClr val="FFFFFF"/>
            </a:solidFill>
            <a:prstDash val="solid"/>
          </a:ln>
        </p:spPr>
      </p:sp>
      <p:sp>
        <p:nvSpPr>
          <p:cNvPr id="14" name="Freeform 14">
            <a:extLst>
              <a:ext uri="{FF2B5EF4-FFF2-40B4-BE49-F238E27FC236}">
                <ns2:creationId id="{34B60C7D-7997-4423-82C3-BA86E231A5DA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2621579" y="9867744"/>
            <a:ext cx="13258279" cy="2968540"/>
          </a:xfrm>
          <a:custGeom>
            <a:rect l="l" t="t" r="r" b="b"/>
            <a:pathLst>
              <a:path w="1815089" h="406400">
                <a:moveTo>
                  <a:pt x="1611889" y="0"/>
                </a:moveTo>
                <a:cubicBezTo>
                  <a:pt x="1724114" y="0"/>
                  <a:pt x="1815089" y="90976"/>
                  <a:pt x="1815089" y="203200"/>
                </a:cubicBezTo>
                <a:cubicBezTo>
                  <a:pt x="1815089" y="315424"/>
                  <a:pt x="1724114" y="406400"/>
                  <a:pt x="161188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>
            <a:srgbClr val="866B50"/>
          </a:solidFill>
        </p:spPr>
      </p:sp>
      <p:sp>
        <p:nvSpPr>
          <p:cNvPr id="17" name="Freeform 17">
            <a:extLst>
              <a:ext uri="{FF2B5EF4-FFF2-40B4-BE49-F238E27FC236}">
                <ns2:creationId id="{51916244-A73D-4993-9DB7-567DEB7E2058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5061551" y="9867744"/>
            <a:ext cx="5671163" cy="3251558"/>
          </a:xfrm>
          <a:custGeom>
            <a:rect l="l" t="t" r="r" b="b"/>
            <a:pathLst>
              <a:path w="708817" h="406400">
                <a:moveTo>
                  <a:pt x="505617" y="0"/>
                </a:moveTo>
                <a:cubicBezTo>
                  <a:pt x="617842" y="0"/>
                  <a:pt x="708817" y="90976"/>
                  <a:pt x="708817" y="203200"/>
                </a:cubicBezTo>
                <a:cubicBezTo>
                  <a:pt x="708817" y="315424"/>
                  <a:pt x="617842" y="406400"/>
                  <a:pt x="505617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>
            <a:srgbClr val="44392D"/>
          </a:solidFill>
        </p:spPr>
      </p:sp>
      <p:sp>
        <p:nvSpPr>
          <p:cNvPr id="18" name="title">
            <a:extLst>
              <a:ext uri="{FF2B5EF4-FFF2-40B4-BE49-F238E27FC236}">
                <ns2:creationId id="{07A0FA83-CB7D-42EE-ACFF-48452C74E3E0}"/>
              </a:ext>
            </a:extLst>
          </p:cNvPr>
          <p:cNvSpPr>
            <a:spLocks noGrp="1"/>
          </p:cNvSpPr>
          <p:nvPr/>
        </p:nvSpPr>
        <p:spPr>
          <a:xfrm>
            <a:off x="1238250" y="638175"/>
            <a:ext cx="16097250" cy="11334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555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555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rPr>
              <a:t>Sustainable, inclusive adoption</a:t>
            </a:r>
          </a:p>
        </p:txBody>
      </p:sp>
      <p:sp>
        <p:nvSpPr>
          <p:cNvPr id="19" name="cost-heading">
            <a:extLst>
              <a:ext uri="{FF2B5EF4-FFF2-40B4-BE49-F238E27FC236}">
                <ns2:creationId id="{C55EB0AD-6F62-46A9-A8C8-4C0E8E8F6E0E}"/>
              </a:ext>
            </a:extLst>
          </p:cNvPr>
          <p:cNvSpPr>
            <a:spLocks noGrp="1"/>
          </p:cNvSpPr>
          <p:nvPr/>
        </p:nvSpPr>
        <p:spPr>
          <a:xfrm>
            <a:off x="1285875" y="2657475"/>
            <a:ext cx="7762875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97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397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</a:rPr>
              <a:t>Affordability &amp; accessibility</a:t>
            </a:r>
          </a:p>
        </p:txBody>
      </p:sp>
      <p:sp>
        <p:nvSpPr>
          <p:cNvPr id="20" name="cost-model">
            <a:extLst>
              <a:ext uri="{FF2B5EF4-FFF2-40B4-BE49-F238E27FC236}">
                <ns2:creationId id="{25B35923-2BED-4BEE-87AD-4998C2A161EC}"/>
              </a:ext>
            </a:extLst>
          </p:cNvPr>
          <p:cNvSpPr>
            <a:spLocks noGrp="1"/>
          </p:cNvSpPr>
          <p:nvPr/>
        </p:nvSpPr>
        <p:spPr>
          <a:xfrm>
            <a:off x="1285875" y="3886200"/>
            <a:ext cx="77152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45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345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</a:rPr>
              <a:t>Open Laya model</a:t>
            </a:r>
          </a:p>
        </p:txBody>
      </p:sp>
      <p:sp>
        <p:nvSpPr>
          <p:cNvPr id="21" name="cost-cpu">
            <a:extLst>
              <a:ext uri="{FF2B5EF4-FFF2-40B4-BE49-F238E27FC236}">
                <ns2:creationId id="{68999670-7D12-4DB2-8E10-49078E2831F0}"/>
              </a:ext>
            </a:extLst>
          </p:cNvPr>
          <p:cNvSpPr>
            <a:spLocks noGrp="1"/>
          </p:cNvSpPr>
          <p:nvPr/>
        </p:nvSpPr>
        <p:spPr>
          <a:xfrm>
            <a:off x="1285875" y="4724400"/>
            <a:ext cx="77152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45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345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</a:rPr>
              <a:t>CPU inference</a:t>
            </a:r>
          </a:p>
        </p:txBody>
      </p:sp>
      <p:sp>
        <p:nvSpPr>
          <p:cNvPr id="22" name="cost-api">
            <a:extLst>
              <a:ext uri="{FF2B5EF4-FFF2-40B4-BE49-F238E27FC236}">
                <ns2:creationId id="{E6751AE4-9B4A-444A-8EFB-6946064A610D}"/>
              </a:ext>
            </a:extLst>
          </p:cNvPr>
          <p:cNvSpPr>
            <a:spLocks noGrp="1"/>
          </p:cNvSpPr>
          <p:nvPr/>
        </p:nvSpPr>
        <p:spPr>
          <a:xfrm>
            <a:off x="1285875" y="5562600"/>
            <a:ext cx="7715250" cy="1190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45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345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</a:rPr>
              <a:t>No paid API calls</a:t>
            </a:r>
          </a:p>
          <a:p>
            <a:pPr algn="l">
              <a:defRPr sz="345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345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</a:rPr>
              <a:t>for our layer</a:t>
            </a:r>
          </a:p>
        </p:txBody>
      </p:sp>
      <p:sp>
        <p:nvSpPr>
          <p:cNvPr id="23" name="cost-boundary">
            <a:extLst>
              <a:ext uri="{FF2B5EF4-FFF2-40B4-BE49-F238E27FC236}">
                <ns2:creationId id="{EAE7EF2F-44E1-4D1C-B536-BF153B3B23B1}"/>
              </a:ext>
            </a:extLst>
          </p:cNvPr>
          <p:cNvSpPr>
            <a:spLocks noGrp="1"/>
          </p:cNvSpPr>
          <p:nvPr/>
        </p:nvSpPr>
        <p:spPr>
          <a:xfrm>
            <a:off x="1285875" y="7305675"/>
            <a:ext cx="7762875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75" b="0">
                <a:solidFill>
                  <a:srgbClr val="FFFFFF"/>
                </a:solidFill>
                <a:latin typeface="Calibri (MS)"/>
                <a:ea typeface="Calibri (MS)"/>
                <a:cs typeface="Calibri (MS)"/>
              </a:defRPr>
            </a:pPr>
            <a:r>
              <a:rPr sz="2475" b="0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Hosting costs depend on usage.</a:t>
            </a:r>
          </a:p>
        </p:txBody>
      </p:sp>
      <p:sp>
        <p:nvSpPr>
          <p:cNvPr id="24" name="impact-title">
            <a:extLst>
              <a:ext uri="{FF2B5EF4-FFF2-40B4-BE49-F238E27FC236}">
                <ns2:creationId id="{F77AD884-369A-4594-8201-7C00F5C1BF15}"/>
              </a:ext>
            </a:extLst>
          </p:cNvPr>
          <p:cNvSpPr>
            <a:spLocks noGrp="1"/>
          </p:cNvSpPr>
          <p:nvPr/>
        </p:nvSpPr>
        <p:spPr>
          <a:xfrm>
            <a:off x="10668000" y="2400300"/>
            <a:ext cx="65722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30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330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rPr>
              <a:t>Value to fans &amp; athletes</a:t>
            </a:r>
          </a:p>
        </p:txBody>
      </p:sp>
      <p:sp>
        <p:nvSpPr>
          <p:cNvPr id="25" name="impact-body">
            <a:extLst>
              <a:ext uri="{FF2B5EF4-FFF2-40B4-BE49-F238E27FC236}">
                <ns2:creationId id="{39471664-D912-4910-A0D1-B1A4F875C7F8}"/>
              </a:ext>
            </a:extLst>
          </p:cNvPr>
          <p:cNvSpPr>
            <a:spLocks noGrp="1"/>
          </p:cNvSpPr>
          <p:nvPr/>
        </p:nvSpPr>
        <p:spPr>
          <a:xfrm>
            <a:off x="10668000" y="3048000"/>
            <a:ext cx="6572250" cy="1057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0">
                <a:solidFill>
                  <a:srgbClr val="44392D"/>
                </a:solidFill>
                <a:latin typeface="Calibri (MS)"/>
                <a:ea typeface="Calibri (MS)"/>
                <a:cs typeface="Calibri (MS)"/>
              </a:defRPr>
            </a:pPr>
            <a:r>
              <a:rPr sz="3000" b="0">
                <a:solidFill>
                  <a:srgbClr val="44392D"/>
                </a:solidFill>
                <a:latin typeface="Calibri (MS)"/>
                <a:ea typeface="Calibri (MS)"/>
                <a:cs typeface="Calibri (MS)"/>
              </a:rPr>
              <a:t>Women’s achievements appear</a:t>
            </a:r>
          </a:p>
          <a:p>
            <a:pPr algn="l">
              <a:defRPr sz="3000" b="0">
                <a:solidFill>
                  <a:srgbClr val="44392D"/>
                </a:solidFill>
                <a:latin typeface="Calibri (MS)"/>
                <a:ea typeface="Calibri (MS)"/>
                <a:cs typeface="Calibri (MS)"/>
              </a:defRPr>
            </a:pPr>
            <a:r>
              <a:rPr sz="3000" b="0">
                <a:solidFill>
                  <a:srgbClr val="44392D"/>
                </a:solidFill>
                <a:latin typeface="Calibri (MS)"/>
                <a:ea typeface="Calibri (MS)"/>
                <a:cs typeface="Calibri (MS)"/>
              </a:rPr>
              <a:t>in everyday cricket discovery.</a:t>
            </a:r>
          </a:p>
        </p:txBody>
      </p:sp>
      <p:sp>
        <p:nvSpPr>
          <p:cNvPr id="26" name="adoption-title">
            <a:extLst>
              <a:ext uri="{FF2B5EF4-FFF2-40B4-BE49-F238E27FC236}">
                <ns2:creationId id="{5E6B3581-7840-437C-9337-A2F666678425}"/>
              </a:ext>
            </a:extLst>
          </p:cNvPr>
          <p:cNvSpPr>
            <a:spLocks noGrp="1"/>
          </p:cNvSpPr>
          <p:nvPr/>
        </p:nvSpPr>
        <p:spPr>
          <a:xfrm>
            <a:off x="10668000" y="4352925"/>
            <a:ext cx="65722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30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330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rPr>
              <a:t>Cross-sport potential</a:t>
            </a:r>
          </a:p>
        </p:txBody>
      </p:sp>
      <p:sp>
        <p:nvSpPr>
          <p:cNvPr id="27" name="adoption-body">
            <a:extLst>
              <a:ext uri="{FF2B5EF4-FFF2-40B4-BE49-F238E27FC236}">
                <ns2:creationId id="{0E6BA78D-794D-44C4-A3C9-015CA8BB2E3E}"/>
              </a:ext>
            </a:extLst>
          </p:cNvPr>
          <p:cNvSpPr>
            <a:spLocks noGrp="1"/>
          </p:cNvSpPr>
          <p:nvPr/>
        </p:nvSpPr>
        <p:spPr>
          <a:xfrm>
            <a:off x="10668000" y="5000625"/>
            <a:ext cx="6572250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0">
                <a:solidFill>
                  <a:srgbClr val="44392D"/>
                </a:solidFill>
                <a:latin typeface="Calibri (MS)"/>
                <a:ea typeface="Calibri (MS)"/>
                <a:cs typeface="Calibri (MS)"/>
              </a:defRPr>
            </a:pPr>
            <a:r>
              <a:rPr sz="2550" b="0">
                <a:solidFill>
                  <a:srgbClr val="44392D"/>
                </a:solidFill>
                <a:latin typeface="Calibri (MS)"/>
                <a:ea typeface="Calibri (MS)"/>
                <a:cs typeface="Calibri (MS)"/>
              </a:rPr>
              <a:t>Future: football, tennis and athletics.</a:t>
            </a:r>
          </a:p>
          <a:p>
            <a:pPr algn="l">
              <a:defRPr sz="2550" b="0">
                <a:solidFill>
                  <a:srgbClr val="44392D"/>
                </a:solidFill>
                <a:latin typeface="Calibri (MS)"/>
                <a:ea typeface="Calibri (MS)"/>
                <a:cs typeface="Calibri (MS)"/>
              </a:defRPr>
            </a:pPr>
            <a:r>
              <a:rPr sz="2550" b="0">
                <a:solidFill>
                  <a:srgbClr val="44392D"/>
                </a:solidFill>
                <a:latin typeface="Calibri (MS)"/>
                <a:ea typeface="Calibri (MS)"/>
                <a:cs typeface="Calibri (MS)"/>
              </a:rPr>
              <a:t>Reuse MCP to surface women’s records.</a:t>
            </a:r>
          </a:p>
          <a:p>
            <a:pPr algn="l">
              <a:defRPr sz="2550" b="0">
                <a:solidFill>
                  <a:srgbClr val="44392D"/>
                </a:solidFill>
                <a:latin typeface="Calibri (MS)"/>
                <a:ea typeface="Calibri (MS)"/>
                <a:cs typeface="Calibri (MS)"/>
              </a:defRPr>
            </a:pPr>
            <a:r>
              <a:rPr sz="2550" b="0">
                <a:solidFill>
                  <a:srgbClr val="44392D"/>
                </a:solidFill>
                <a:latin typeface="Calibri (MS)"/>
                <a:ea typeface="Calibri (MS)"/>
                <a:cs typeface="Calibri (MS)"/>
              </a:rPr>
              <a:t>Add verified data and test each sport.</a:t>
            </a:r>
          </a:p>
        </p:txBody>
      </p:sp>
      <p:sp>
        <p:nvSpPr>
          <p:cNvPr id="28" name="unesco-source">
            <a:extLst>
              <a:ext uri="{FF2B5EF4-FFF2-40B4-BE49-F238E27FC236}">
                <ns2:creationId id="{CC0A6CF2-8D25-40B4-B0B6-1EC45EEF08A9}"/>
              </a:ext>
            </a:extLst>
            <a:hlinkClick r:id="rIdDeckLink3"/>
          </p:cNvPr>
          <p:cNvSpPr>
            <a:spLocks noGrp="1"/>
          </p:cNvSpPr>
          <p:nvPr/>
        </p:nvSpPr>
        <p:spPr>
          <a:xfrm>
            <a:off x="10668000" y="6410325"/>
            <a:ext cx="3476625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950" b="0">
                <a:solidFill>
                  <a:srgbClr val="625D57"/>
                </a:solidFill>
                <a:latin typeface="Calibri (MS)"/>
                <a:ea typeface="Calibri (MS)"/>
                <a:cs typeface="Calibri (MS)"/>
              </a:defRPr>
            </a:pPr>
            <a:r>
              <a:rPr sz="1950" b="0">
                <a:solidFill>
                  <a:srgbClr val="625D57"/>
                </a:solidFill>
                <a:latin typeface="Calibri (MS)"/>
                <a:ea typeface="Calibri (MS)"/>
                <a:cs typeface="Calibri (MS)"/>
                <a:hlinkClick r:id="rIdDeckLink3"/>
              </a:rPr>
              <a:t>Visibility need: UNESCO</a:t>
            </a:r>
          </a:p>
        </p:txBody>
      </p:sp>
      <p:sp>
        <p:nvSpPr>
          <p:cNvPr id="29" name="ioc-source">
            <a:extLst>
              <a:ext uri="{FF2B5EF4-FFF2-40B4-BE49-F238E27FC236}">
                <ns2:creationId id="{56D800A2-53C1-4792-BE0A-E6F11F4A89AB}"/>
              </a:ext>
            </a:extLst>
            <a:hlinkClick r:id="rIdDeckLink4"/>
          </p:cNvPr>
          <p:cNvSpPr>
            <a:spLocks noGrp="1"/>
          </p:cNvSpPr>
          <p:nvPr/>
        </p:nvSpPr>
        <p:spPr>
          <a:xfrm>
            <a:off x="14382750" y="6410325"/>
            <a:ext cx="25717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950" b="0">
                <a:solidFill>
                  <a:srgbClr val="625D57"/>
                </a:solidFill>
                <a:latin typeface="Calibri (MS)"/>
                <a:ea typeface="Calibri (MS)"/>
                <a:cs typeface="Calibri (MS)"/>
              </a:defRPr>
            </a:pPr>
            <a:r>
              <a:rPr sz="1950" b="0">
                <a:solidFill>
                  <a:srgbClr val="625D57"/>
                </a:solidFill>
                <a:latin typeface="Calibri (MS)"/>
                <a:ea typeface="Calibri (MS)"/>
                <a:cs typeface="Calibri (MS)"/>
                <a:hlinkClick r:id="rIdDeckLink4"/>
              </a:rPr>
              <a:t>IOC guidance</a:t>
            </a:r>
          </a:p>
        </p:txBody>
      </p:sp>
      <p:sp>
        <p:nvSpPr>
          <p:cNvPr id="30" name="pilot-title">
            <a:extLst>
              <a:ext uri="{FF2B5EF4-FFF2-40B4-BE49-F238E27FC236}">
                <ns2:creationId id="{82CBBD75-9AAA-48AC-8557-1B90EA0AC478}"/>
              </a:ext>
            </a:extLst>
          </p:cNvPr>
          <p:cNvSpPr>
            <a:spLocks noGrp="1"/>
          </p:cNvSpPr>
          <p:nvPr/>
        </p:nvSpPr>
        <p:spPr>
          <a:xfrm>
            <a:off x="10668000" y="6924675"/>
            <a:ext cx="65722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45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3450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rPr>
              <a:t>Proposed ICC pilot</a:t>
            </a:r>
          </a:p>
        </p:txBody>
      </p:sp>
      <p:sp>
        <p:nvSpPr>
          <p:cNvPr id="31" name="pilot-body">
            <a:extLst>
              <a:ext uri="{FF2B5EF4-FFF2-40B4-BE49-F238E27FC236}">
                <ns2:creationId id="{B78FE503-CDBF-48B3-AEF8-011E38AB5875}"/>
              </a:ext>
            </a:extLst>
          </p:cNvPr>
          <p:cNvSpPr>
            <a:spLocks noGrp="1"/>
          </p:cNvSpPr>
          <p:nvPr/>
        </p:nvSpPr>
        <p:spPr>
          <a:xfrm>
            <a:off x="10668000" y="7572375"/>
            <a:ext cx="6572250" cy="981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775" b="0">
                <a:solidFill>
                  <a:srgbClr val="44392D"/>
                </a:solidFill>
                <a:latin typeface="Calibri (MS)"/>
                <a:ea typeface="Calibri (MS)"/>
                <a:cs typeface="Calibri (MS)"/>
              </a:defRPr>
            </a:pPr>
            <a:r>
              <a:rPr sz="2775" b="0">
                <a:solidFill>
                  <a:srgbClr val="44392D"/>
                </a:solidFill>
                <a:latin typeface="Calibri (MS)"/>
                <a:ea typeface="Calibri (MS)"/>
                <a:cs typeface="Calibri (MS)"/>
              </a:rPr>
              <a:t>Measure visibility, correctness,</a:t>
            </a:r>
          </a:p>
          <a:p>
            <a:pPr algn="l">
              <a:defRPr sz="2775" b="0">
                <a:solidFill>
                  <a:srgbClr val="44392D"/>
                </a:solidFill>
                <a:latin typeface="Calibri (MS)"/>
                <a:ea typeface="Calibri (MS)"/>
                <a:cs typeface="Calibri (MS)"/>
              </a:defRPr>
            </a:pPr>
            <a:r>
              <a:rPr sz="2775" b="0">
                <a:solidFill>
                  <a:srgbClr val="44392D"/>
                </a:solidFill>
                <a:latin typeface="Calibri (MS)"/>
                <a:ea typeface="Calibri (MS)"/>
                <a:cs typeface="Calibri (MS)"/>
              </a:rPr>
              <a:t>coverage and cost per query.</a:t>
            </a:r>
          </a:p>
        </p:txBody>
      </p:sp>
      <p:sp>
        <p:nvSpPr>
          <p:cNvPr id="32" name="presented-by">
            <a:extLst>
              <a:ext uri="{FF2B5EF4-FFF2-40B4-BE49-F238E27FC236}">
                <ns2:creationId id="{DE6F85F1-4DC3-4A74-9546-86EF88813DBD}"/>
              </a:ext>
            </a:extLst>
          </p:cNvPr>
          <p:cNvSpPr>
            <a:spLocks noGrp="1"/>
          </p:cNvSpPr>
          <p:nvPr/>
        </p:nvSpPr>
        <p:spPr>
          <a:xfrm>
            <a:off x="1285875" y="8715375"/>
            <a:ext cx="57150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75" b="0">
                <a:solidFill>
                  <a:srgbClr val="FFFFFF"/>
                </a:solidFill>
                <a:latin typeface="Calibri (MS)"/>
                <a:ea typeface="Calibri (MS)"/>
                <a:cs typeface="Calibri (MS)"/>
              </a:defRPr>
            </a:pPr>
            <a:r>
              <a:rPr sz="2175" b="0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Presented by</a:t>
            </a:r>
          </a:p>
        </p:txBody>
      </p:sp>
      <p:sp>
        <p:nvSpPr>
          <p:cNvPr id="33" name="team-lead">
            <a:extLst>
              <a:ext uri="{FF2B5EF4-FFF2-40B4-BE49-F238E27FC236}">
                <ns2:creationId id="{CBA147AC-3B0A-4407-B399-F8B9A7031B59}"/>
              </a:ext>
            </a:extLst>
          </p:cNvPr>
          <p:cNvSpPr>
            <a:spLocks noGrp="1"/>
          </p:cNvSpPr>
          <p:nvPr/>
        </p:nvSpPr>
        <p:spPr>
          <a:xfrm>
            <a:off x="1285875" y="9220200"/>
            <a:ext cx="72390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77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277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</a:rPr>
              <a:t>Joanna Preethi (Team Lead)</a:t>
            </a:r>
          </a:p>
        </p:txBody>
      </p:sp>
      <p:sp>
        <p:nvSpPr>
          <p:cNvPr id="34" name="team-jabin">
            <a:extLst>
              <a:ext uri="{FF2B5EF4-FFF2-40B4-BE49-F238E27FC236}">
                <ns2:creationId id="{C8D6AD51-AE50-45E0-9187-73712268DC25}"/>
              </a:ext>
            </a:extLst>
          </p:cNvPr>
          <p:cNvSpPr>
            <a:spLocks noGrp="1"/>
          </p:cNvSpPr>
          <p:nvPr/>
        </p:nvSpPr>
        <p:spPr>
          <a:xfrm>
            <a:off x="8096250" y="9220200"/>
            <a:ext cx="319087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775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2775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rPr>
              <a:t>Jabin Joseph</a:t>
            </a:r>
          </a:p>
        </p:txBody>
      </p:sp>
      <p:sp>
        <p:nvSpPr>
          <p:cNvPr id="35" name="team-efanio">
            <a:extLst>
              <a:ext uri="{FF2B5EF4-FFF2-40B4-BE49-F238E27FC236}">
                <ns2:creationId id="{85528B61-9D77-4ED8-8CFD-619D6580BF01}"/>
              </a:ext>
            </a:extLst>
          </p:cNvPr>
          <p:cNvSpPr>
            <a:spLocks noGrp="1"/>
          </p:cNvSpPr>
          <p:nvPr/>
        </p:nvSpPr>
        <p:spPr>
          <a:xfrm>
            <a:off x="11049000" y="9220200"/>
            <a:ext cx="319087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775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defRPr>
            </a:pPr>
            <a:r>
              <a:rPr sz="2775" b="1">
                <a:solidFill>
                  <a:srgbClr val="44392D"/>
                </a:solidFill>
                <a:latin typeface="Calibri (MS) Bold"/>
                <a:ea typeface="Calibri (MS) Bold"/>
                <a:cs typeface="Calibri (MS) Bold"/>
              </a:rPr>
              <a:t>Efanio Jens</a:t>
            </a:r>
          </a:p>
        </p:txBody>
      </p:sp>
      <p:sp>
        <p:nvSpPr>
          <p:cNvPr id="36" name="page-number">
            <a:extLst>
              <a:ext uri="{FF2B5EF4-FFF2-40B4-BE49-F238E27FC236}">
                <ns2:creationId id="{0C28A4B2-06A0-4209-9239-8A4A47AE97EB}"/>
              </a:ext>
            </a:extLst>
          </p:cNvPr>
          <p:cNvSpPr>
            <a:spLocks noGrp="1"/>
          </p:cNvSpPr>
          <p:nvPr/>
        </p:nvSpPr>
        <p:spPr>
          <a:xfrm>
            <a:off x="16954500" y="9582150"/>
            <a:ext cx="61912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2100" b="0">
                <a:solidFill>
                  <a:srgbClr val="866B50"/>
                </a:solidFill>
                <a:latin typeface="Calibri (MS)"/>
                <a:ea typeface="Calibri (MS)"/>
                <a:cs typeface="Calibri (MS)"/>
              </a:defRPr>
            </a:pPr>
            <a:r>
              <a:rPr sz="2100" b="0">
                <a:solidFill>
                  <a:srgbClr val="866B50"/>
                </a:solidFill>
                <a:latin typeface="Calibri (MS)"/>
                <a:ea typeface="Calibri (MS)"/>
                <a:cs typeface="Calibri (MS)"/>
              </a:rPr>
              <a:t>05</a:t>
            </a:r>
          </a:p>
        </p:txBody>
      </p:sp>
    </p:spTree>
    <p:extLst>
      <p:ext uri="{BB962C8B-B14F-4D97-AF65-F5344CB8AC3E}">
        <ns4:creationId val="195770211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Calibri (MS)"/>
        <a:font script="Hang" typeface="Calibri (MS)"/>
        <a:font script="Hans" typeface="Calibri (MS)"/>
        <a:font script="Hant" typeface="Calibri (MS)"/>
        <a:font script="Arab" typeface="Calibri (MS)"/>
        <a:font script="Hebr" typeface="Calibri (MS)"/>
        <a:font script="Thai" typeface="Calibri (MS)"/>
        <a:font script="Ethi" typeface="Calibri (MS)"/>
        <a:font script="Beng" typeface="Calibri (MS)"/>
        <a:font script="Gujr" typeface="Calibri (MS)"/>
        <a:font script="Khmr" typeface="Calibri (MS)"/>
        <a:font script="Knda" typeface="Calibri (MS)"/>
        <a:font script="Guru" typeface="Calibri (MS)"/>
        <a:font script="Cans" typeface="Calibri (MS)"/>
        <a:font script="Cher" typeface="Calibri (MS)"/>
        <a:font script="Yiii" typeface="Calibri (MS)"/>
        <a:font script="Tibt" typeface="Calibri (MS)"/>
        <a:font script="Thaa" typeface="Calibri (MS)"/>
        <a:font script="Deva" typeface="Calibri (MS)"/>
        <a:font script="Telu" typeface="Calibri (MS)"/>
        <a:font script="Taml" typeface="Calibri (MS)"/>
        <a:font script="Syrc" typeface="Calibri (MS)"/>
        <a:font script="Orya" typeface="Calibri (MS)"/>
        <a:font script="Mlym" typeface="Calibri (MS)"/>
        <a:font script="Laoo" typeface="Calibri (MS)"/>
        <a:font script="Sinh" typeface="Calibri (MS)"/>
        <a:font script="Mong" typeface="Calibri (MS)"/>
        <a:font script="Viet" typeface="Calibri (MS)"/>
        <a:font script="Uigh" typeface="Calibri (MS)"/>
      </a:majorFont>
      <a:minorFont>
        <a:latin typeface="Calibri"/>
        <a:ea typeface=""/>
        <a:cs typeface=""/>
        <a:font script="Jpan" typeface="Calibri (MS)"/>
        <a:font script="Hang" typeface="Calibri (MS)"/>
        <a:font script="Hans" typeface="Calibri (MS)"/>
        <a:font script="Hant" typeface="Calibri (MS)"/>
        <a:font script="Arab" typeface="Calibri (MS)"/>
        <a:font script="Hebr" typeface="Calibri (MS)"/>
        <a:font script="Thai" typeface="Calibri (MS)"/>
        <a:font script="Ethi" typeface="Calibri (MS)"/>
        <a:font script="Beng" typeface="Calibri (MS)"/>
        <a:font script="Gujr" typeface="Calibri (MS)"/>
        <a:font script="Khmr" typeface="Calibri (MS)"/>
        <a:font script="Knda" typeface="Calibri (MS)"/>
        <a:font script="Guru" typeface="Calibri (MS)"/>
        <a:font script="Cans" typeface="Calibri (MS)"/>
        <a:font script="Cher" typeface="Calibri (MS)"/>
        <a:font script="Yiii" typeface="Calibri (MS)"/>
        <a:font script="Tibt" typeface="Calibri (MS)"/>
        <a:font script="Thaa" typeface="Calibri (MS)"/>
        <a:font script="Deva" typeface="Calibri (MS)"/>
        <a:font script="Telu" typeface="Calibri (MS)"/>
        <a:font script="Taml" typeface="Calibri (MS)"/>
        <a:font script="Syrc" typeface="Calibri (MS)"/>
        <a:font script="Orya" typeface="Calibri (MS)"/>
        <a:font script="Mlym" typeface="Calibri (MS)"/>
        <a:font script="Laoo" typeface="Calibri (MS)"/>
        <a:font script="Sinh" typeface="Calibri (MS)"/>
        <a:font script="Mong" typeface="Calibri (MS)"/>
        <a:font script="Viet" typeface="Calibri (MS)"/>
        <a:font script="Uigh" typeface="Calibri (MS)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2026-10-04T18:09:26.6010000Z</dcterms:created>
  <dcterms:modified xsi:type="dcterms:W3CDTF">2026-10-04T18:09:26.6010000Z</dcterms:modified>
</coreProperties>
</file>